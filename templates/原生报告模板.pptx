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6" r:id="rId11"/>
    <p:sldId id="267" r:id="rId12"/>
    <p:sldId id="269" r:id="rId13"/>
    <p:sldId id="270" r:id="rId14"/>
    <p:sldId id="271" r:id="rId15"/>
    <p:sldId id="273" r:id="rId16"/>
    <p:sldId id="268" r:id="rId1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CF0F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05" d="100"/>
          <a:sy n="105" d="100"/>
        </p:scale>
        <p:origin x="64" y="14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4/12/2026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4/12/2026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457200" y="1828800"/>
            <a:ext cx="11277295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000" b="1">
                <a:solidFill>
                  <a:srgbClr val="1F4E79"/>
                </a:solidFill>
              </a:defRPr>
            </a:pPr>
            <a:r>
              <a:rPr dirty="0"/>
              <a:t>[</a:t>
            </a:r>
            <a:r>
              <a:rPr dirty="0" err="1"/>
              <a:t>TEXT:report_title</a:t>
            </a:r>
            <a:r>
              <a:rPr dirty="0"/>
              <a:t>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0"/>
            <a:ext cx="11277295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>
                <a:solidFill>
                  <a:srgbClr val="2C3E50"/>
                </a:solidFill>
              </a:defRPr>
            </a:pPr>
            <a:r>
              <a:rPr dirty="0"/>
              <a:t>[</a:t>
            </a:r>
            <a:r>
              <a:rPr dirty="0" err="1"/>
              <a:t>TEXT:report_subtitle</a:t>
            </a:r>
            <a:r>
              <a:rPr dirty="0"/>
              <a:t>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297488" y="5943600"/>
            <a:ext cx="1596719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>
                <a:solidFill>
                  <a:srgbClr val="2C3E50"/>
                </a:solidFill>
              </a:defRPr>
            </a:pPr>
            <a:r>
              <a:rPr lang="en-US" dirty="0"/>
              <a:t>[</a:t>
            </a:r>
            <a:r>
              <a:rPr lang="en-US" dirty="0" err="1"/>
              <a:t>DATE:report_date</a:t>
            </a:r>
            <a:r>
              <a:rPr lang="en-US" dirty="0"/>
              <a:t>]</a:t>
            </a:r>
            <a:endParaRPr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81200" y="320646"/>
            <a:ext cx="8229600" cy="1143000"/>
          </a:xfrm>
        </p:spPr>
        <p:txBody>
          <a:bodyPr/>
          <a:lstStyle/>
          <a:p>
            <a:r>
              <a:rPr dirty="0" err="1"/>
              <a:t>报告目录</a:t>
            </a: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981200" y="1601638"/>
            <a:ext cx="8229600" cy="4525963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endParaRPr sz="2400" dirty="0"/>
          </a:p>
          <a:p>
            <a:pPr marL="0" indent="0" algn="ctr">
              <a:buNone/>
              <a:defRPr sz="1800"/>
            </a:pPr>
            <a:r>
              <a:rPr sz="2400" dirty="0">
                <a:solidFill>
                  <a:schemeClr val="tx2"/>
                </a:solidFill>
              </a:rPr>
              <a:t>1. </a:t>
            </a:r>
            <a:r>
              <a:rPr sz="2400" dirty="0" err="1">
                <a:solidFill>
                  <a:schemeClr val="tx2"/>
                </a:solidFill>
              </a:rPr>
              <a:t>分析背景</a:t>
            </a:r>
            <a:endParaRPr sz="2400" dirty="0">
              <a:solidFill>
                <a:schemeClr val="tx2"/>
              </a:solidFill>
            </a:endParaRPr>
          </a:p>
          <a:p>
            <a:pPr marL="0" indent="0" algn="ctr">
              <a:buNone/>
              <a:defRPr sz="1800"/>
            </a:pPr>
            <a:r>
              <a:rPr sz="2400" dirty="0">
                <a:solidFill>
                  <a:schemeClr val="tx2"/>
                </a:solidFill>
              </a:rPr>
              <a:t>2. </a:t>
            </a:r>
            <a:r>
              <a:rPr sz="2400" dirty="0" err="1">
                <a:solidFill>
                  <a:schemeClr val="tx2"/>
                </a:solidFill>
              </a:rPr>
              <a:t>核心指标</a:t>
            </a:r>
            <a:endParaRPr sz="2400" dirty="0">
              <a:solidFill>
                <a:schemeClr val="tx2"/>
              </a:solidFill>
            </a:endParaRPr>
          </a:p>
          <a:p>
            <a:pPr marL="0" indent="0" algn="ctr">
              <a:buNone/>
              <a:defRPr sz="1800"/>
            </a:pPr>
            <a:r>
              <a:rPr sz="2400" dirty="0">
                <a:solidFill>
                  <a:schemeClr val="tx2"/>
                </a:solidFill>
              </a:rPr>
              <a:t>3. </a:t>
            </a:r>
            <a:r>
              <a:rPr sz="2400" dirty="0" err="1">
                <a:solidFill>
                  <a:schemeClr val="tx2"/>
                </a:solidFill>
              </a:rPr>
              <a:t>多维度分析</a:t>
            </a:r>
            <a:endParaRPr sz="2400" dirty="0">
              <a:solidFill>
                <a:schemeClr val="tx2"/>
              </a:solidFill>
            </a:endParaRPr>
          </a:p>
          <a:p>
            <a:pPr marL="0" indent="0" algn="ctr">
              <a:buNone/>
              <a:defRPr sz="1800"/>
            </a:pPr>
            <a:r>
              <a:rPr sz="2400" dirty="0">
                <a:solidFill>
                  <a:schemeClr val="tx2"/>
                </a:solidFill>
              </a:rPr>
              <a:t>4. </a:t>
            </a:r>
            <a:r>
              <a:rPr sz="2400" dirty="0" err="1">
                <a:solidFill>
                  <a:schemeClr val="tx2"/>
                </a:solidFill>
              </a:rPr>
              <a:t>专项洞察</a:t>
            </a:r>
            <a:endParaRPr sz="2400" dirty="0">
              <a:solidFill>
                <a:schemeClr val="tx2"/>
              </a:solidFill>
            </a:endParaRPr>
          </a:p>
          <a:p>
            <a:pPr marL="0" indent="0" algn="ctr">
              <a:buNone/>
              <a:defRPr sz="1800"/>
            </a:pPr>
            <a:r>
              <a:rPr sz="2400" dirty="0">
                <a:solidFill>
                  <a:schemeClr val="tx2"/>
                </a:solidFill>
              </a:rPr>
              <a:t>5. </a:t>
            </a:r>
            <a:r>
              <a:rPr sz="2400" dirty="0" err="1">
                <a:solidFill>
                  <a:schemeClr val="tx2"/>
                </a:solidFill>
              </a:rPr>
              <a:t>结论策略</a:t>
            </a:r>
            <a:endParaRPr sz="2400" dirty="0">
              <a:solidFill>
                <a:schemeClr val="tx2"/>
              </a:solidFill>
            </a:endParaRPr>
          </a:p>
          <a:p>
            <a:pPr marL="0" indent="0" algn="ctr">
              <a:buNone/>
              <a:defRPr sz="1800"/>
            </a:pPr>
            <a:r>
              <a:rPr sz="2400" dirty="0">
                <a:solidFill>
                  <a:schemeClr val="tx2"/>
                </a:solidFill>
              </a:rPr>
              <a:t>6. </a:t>
            </a:r>
            <a:r>
              <a:rPr sz="2400" dirty="0" err="1">
                <a:solidFill>
                  <a:schemeClr val="tx2"/>
                </a:solidFill>
              </a:rPr>
              <a:t>结束页</a:t>
            </a:r>
            <a:endParaRPr sz="2400" dirty="0">
              <a:solidFill>
                <a:schemeClr val="tx2"/>
              </a:solidFill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81200" y="274638"/>
            <a:ext cx="8229600" cy="1143000"/>
          </a:xfrm>
        </p:spPr>
        <p:txBody>
          <a:bodyPr/>
          <a:lstStyle/>
          <a:p>
            <a:r>
              <a:rPr dirty="0" err="1"/>
              <a:t>核心经营指标总览</a:t>
            </a:r>
            <a:endParaRPr dirty="0"/>
          </a:p>
        </p:txBody>
      </p:sp>
      <p:sp>
        <p:nvSpPr>
          <p:cNvPr id="4" name="KPI:cards"/>
          <p:cNvSpPr txBox="1"/>
          <p:nvPr/>
        </p:nvSpPr>
        <p:spPr>
          <a:xfrm>
            <a:off x="731520" y="1600200"/>
            <a:ext cx="4572000" cy="5890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spcAft>
                <a:spcPts val="1200"/>
              </a:spcAft>
              <a:defRPr sz="2400">
                <a:solidFill>
                  <a:srgbClr val="2C3E50"/>
                </a:solidFill>
              </a:defRPr>
            </a:pPr>
            <a:r>
              <a:rPr dirty="0"/>
              <a:t>[</a:t>
            </a:r>
            <a:r>
              <a:rPr lang="en-US" altLang="zh-CN" sz="2400" dirty="0" err="1"/>
              <a:t>TABLE</a:t>
            </a:r>
            <a:r>
              <a:rPr dirty="0" err="1"/>
              <a:t>:</a:t>
            </a:r>
            <a:r>
              <a:rPr lang="en-US" altLang="zh-CN" dirty="0" err="1"/>
              <a:t>core_api</a:t>
            </a:r>
            <a:r>
              <a:rPr dirty="0"/>
              <a:t>]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1D85B51B-EE5D-A1BB-3638-241B28194F0A}"/>
              </a:ext>
            </a:extLst>
          </p:cNvPr>
          <p:cNvSpPr txBox="1"/>
          <p:nvPr/>
        </p:nvSpPr>
        <p:spPr>
          <a:xfrm>
            <a:off x="657560" y="5003348"/>
            <a:ext cx="26472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{{</a:t>
            </a:r>
            <a:r>
              <a:rPr lang="en-US" altLang="zh-CN" dirty="0" err="1"/>
              <a:t>INSIGHT:core_kpi</a:t>
            </a:r>
            <a:r>
              <a:rPr lang="en-US" altLang="zh-CN" dirty="0"/>
              <a:t>}}</a:t>
            </a:r>
            <a:endParaRPr lang="zh-CN" altLang="en-US" dirty="0"/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B810B29E-29B3-4E4A-6538-4D9C134F3D74}"/>
              </a:ext>
            </a:extLst>
          </p:cNvPr>
          <p:cNvSpPr txBox="1"/>
          <p:nvPr/>
        </p:nvSpPr>
        <p:spPr>
          <a:xfrm>
            <a:off x="9041632" y="4961478"/>
            <a:ext cx="15447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[</a:t>
            </a:r>
            <a:r>
              <a:rPr lang="en-US" altLang="zh-CN" dirty="0" err="1"/>
              <a:t>LINK:website</a:t>
            </a:r>
            <a:r>
              <a:rPr lang="en-US" altLang="zh-CN" dirty="0"/>
              <a:t>]</a:t>
            </a:r>
            <a:endParaRPr lang="zh-CN" altLang="en-US" dirty="0"/>
          </a:p>
        </p:txBody>
      </p:sp>
      <p:graphicFrame>
        <p:nvGraphicFramePr>
          <p:cNvPr id="6" name="表格 5">
            <a:extLst>
              <a:ext uri="{FF2B5EF4-FFF2-40B4-BE49-F238E27FC236}">
                <a16:creationId xmlns:a16="http://schemas.microsoft.com/office/drawing/2014/main" id="{9420EBFF-1D23-DB4B-2510-6867372F72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41825911"/>
              </p:ext>
            </p:extLst>
          </p:nvPr>
        </p:nvGraphicFramePr>
        <p:xfrm>
          <a:off x="9041632" y="1711856"/>
          <a:ext cx="2751667" cy="365760"/>
        </p:xfrm>
        <a:graphic>
          <a:graphicData uri="http://schemas.openxmlformats.org/drawingml/2006/table">
            <a:tbl>
              <a:tblPr/>
              <a:tblGrid>
                <a:gridCol w="2751667">
                  <a:extLst>
                    <a:ext uri="{9D8B030D-6E8A-4147-A177-3AD203B41FA5}">
                      <a16:colId xmlns:a16="http://schemas.microsoft.com/office/drawing/2014/main" val="2762140940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[</a:t>
                      </a:r>
                      <a:r>
                        <a:rPr lang="en-US" dirty="0" err="1"/>
                        <a:t>IMAGE:redhat</a:t>
                      </a:r>
                      <a:r>
                        <a:rPr lang="en-US" dirty="0"/>
                        <a:t>]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3670609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81200" y="274638"/>
            <a:ext cx="8229600" cy="1143000"/>
          </a:xfrm>
        </p:spPr>
        <p:txBody>
          <a:bodyPr/>
          <a:lstStyle/>
          <a:p>
            <a:r>
              <a:rPr lang="zh-CN" altLang="en-US" dirty="0"/>
              <a:t>核心 </a:t>
            </a:r>
            <a:r>
              <a:rPr lang="en-US" altLang="zh-CN" dirty="0"/>
              <a:t>KPI </a:t>
            </a:r>
            <a:r>
              <a:rPr lang="zh-CN" altLang="en-US" dirty="0"/>
              <a:t>指标概览</a:t>
            </a:r>
            <a:endParaRPr dirty="0"/>
          </a:p>
        </p:txBody>
      </p:sp>
      <p:sp>
        <p:nvSpPr>
          <p:cNvPr id="5" name="TextBox 4"/>
          <p:cNvSpPr txBox="1"/>
          <p:nvPr/>
        </p:nvSpPr>
        <p:spPr>
          <a:xfrm>
            <a:off x="8046720" y="1371600"/>
            <a:ext cx="3089628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en-US" dirty="0"/>
              <a:t>{{</a:t>
            </a:r>
            <a:r>
              <a:rPr lang="en-US" dirty="0" err="1"/>
              <a:t>INSIGHT:core_kpi_summary</a:t>
            </a:r>
            <a:r>
              <a:rPr lang="en-US" dirty="0"/>
              <a:t>}}</a:t>
            </a:r>
            <a:endParaRPr dirty="0"/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B9A78D22-C97C-3F52-CD60-65ADCC342847}"/>
              </a:ext>
            </a:extLst>
          </p:cNvPr>
          <p:cNvSpPr txBox="1"/>
          <p:nvPr/>
        </p:nvSpPr>
        <p:spPr>
          <a:xfrm>
            <a:off x="768626" y="1417638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dirty="0"/>
              <a:t>[</a:t>
            </a:r>
            <a:r>
              <a:rPr lang="en-US" altLang="zh-CN" dirty="0" err="1"/>
              <a:t>CHART:core_kpi_summary</a:t>
            </a:r>
            <a:r>
              <a:rPr lang="en-US" altLang="zh-CN" dirty="0"/>
              <a:t>]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45920" y="278982"/>
            <a:ext cx="8229600" cy="1143000"/>
          </a:xfrm>
        </p:spPr>
        <p:txBody>
          <a:bodyPr/>
          <a:lstStyle/>
          <a:p>
            <a:r>
              <a:rPr lang="zh-CN" altLang="en-US" dirty="0"/>
              <a:t>销售员业绩排名分析</a:t>
            </a:r>
            <a:endParaRPr dirty="0"/>
          </a:p>
        </p:txBody>
      </p:sp>
      <p:sp>
        <p:nvSpPr>
          <p:cNvPr id="5" name="TextBox 4"/>
          <p:cNvSpPr txBox="1"/>
          <p:nvPr/>
        </p:nvSpPr>
        <p:spPr>
          <a:xfrm>
            <a:off x="5760720" y="1371600"/>
            <a:ext cx="4067717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en-US" dirty="0"/>
              <a:t>{{</a:t>
            </a:r>
            <a:r>
              <a:rPr lang="en-US" dirty="0" err="1"/>
              <a:t>INSIGHT:city_sales_ranking_horizontal</a:t>
            </a:r>
            <a:r>
              <a:rPr lang="en-US" dirty="0"/>
              <a:t>}}</a:t>
            </a:r>
            <a:endParaRPr dirty="0"/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865380EC-5F7A-0FEF-4A1E-3C989876BB1B}"/>
              </a:ext>
            </a:extLst>
          </p:cNvPr>
          <p:cNvSpPr txBox="1"/>
          <p:nvPr/>
        </p:nvSpPr>
        <p:spPr>
          <a:xfrm>
            <a:off x="563217" y="1481794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dirty="0"/>
              <a:t>[</a:t>
            </a:r>
            <a:r>
              <a:rPr lang="en-US" altLang="zh-CN" dirty="0" err="1"/>
              <a:t>CHART:city_sales_ranking_horizontal</a:t>
            </a:r>
            <a:r>
              <a:rPr lang="en-US" altLang="zh-CN" dirty="0"/>
              <a:t>]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81200" y="250196"/>
            <a:ext cx="8229600" cy="1143000"/>
          </a:xfrm>
        </p:spPr>
        <p:txBody>
          <a:bodyPr/>
          <a:lstStyle/>
          <a:p>
            <a:r>
              <a:rPr lang="zh-CN" altLang="en-US" dirty="0"/>
              <a:t>商品类别支付金额占比</a:t>
            </a:r>
            <a:endParaRPr dirty="0"/>
          </a:p>
        </p:txBody>
      </p:sp>
      <p:sp>
        <p:nvSpPr>
          <p:cNvPr id="5" name="TextBox 4"/>
          <p:cNvSpPr txBox="1"/>
          <p:nvPr/>
        </p:nvSpPr>
        <p:spPr>
          <a:xfrm>
            <a:off x="8046720" y="1371600"/>
            <a:ext cx="3785011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en-US" dirty="0"/>
              <a:t>{{</a:t>
            </a:r>
            <a:r>
              <a:rPr lang="en-US" dirty="0" err="1"/>
              <a:t>INSIGHT:category_composition_pie</a:t>
            </a:r>
            <a:r>
              <a:rPr lang="en-US" dirty="0"/>
              <a:t>}}</a:t>
            </a:r>
            <a:endParaRPr dirty="0"/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28D7AC8A-A957-57C3-7104-5A641DCAD70F}"/>
              </a:ext>
            </a:extLst>
          </p:cNvPr>
          <p:cNvSpPr txBox="1"/>
          <p:nvPr/>
        </p:nvSpPr>
        <p:spPr>
          <a:xfrm>
            <a:off x="602974" y="1393196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dirty="0"/>
              <a:t>[</a:t>
            </a:r>
            <a:r>
              <a:rPr lang="en-US" altLang="zh-CN" dirty="0" err="1"/>
              <a:t>CHART:category_composition_pie</a:t>
            </a:r>
            <a:r>
              <a:rPr lang="en-US" altLang="zh-CN" dirty="0"/>
              <a:t>]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81200" y="296234"/>
            <a:ext cx="8229600" cy="1143000"/>
          </a:xfrm>
        </p:spPr>
        <p:txBody>
          <a:bodyPr/>
          <a:lstStyle/>
          <a:p>
            <a:r>
              <a:rPr lang="zh-CN" altLang="en-US" dirty="0"/>
              <a:t>新老客销售与订单对比</a:t>
            </a:r>
            <a:endParaRPr dirty="0"/>
          </a:p>
        </p:txBody>
      </p:sp>
      <p:sp>
        <p:nvSpPr>
          <p:cNvPr id="5" name="TextBox 4"/>
          <p:cNvSpPr txBox="1"/>
          <p:nvPr/>
        </p:nvSpPr>
        <p:spPr>
          <a:xfrm>
            <a:off x="8046720" y="1371600"/>
            <a:ext cx="4589654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it-IT" dirty="0"/>
              <a:t>{{INSIGHT:gender_comparison_multi_column}}</a:t>
            </a:r>
            <a:endParaRPr dirty="0"/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FC3036BB-7BF9-5366-851C-B52A56D3DBB1}"/>
              </a:ext>
            </a:extLst>
          </p:cNvPr>
          <p:cNvSpPr txBox="1"/>
          <p:nvPr/>
        </p:nvSpPr>
        <p:spPr>
          <a:xfrm>
            <a:off x="616227" y="1436785"/>
            <a:ext cx="632128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dirty="0"/>
              <a:t>[</a:t>
            </a:r>
            <a:r>
              <a:rPr lang="en-US" altLang="zh-CN" dirty="0" err="1"/>
              <a:t>CHART:gender_comparison_multi_column</a:t>
            </a:r>
            <a:r>
              <a:rPr lang="en-US" altLang="zh-CN" dirty="0"/>
              <a:t>]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457200" y="5212080"/>
            <a:ext cx="954455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{{</a:t>
            </a:r>
            <a:r>
              <a:rPr lang="en-US" dirty="0" err="1"/>
              <a:t>INSIGHT:order_trend_line</a:t>
            </a:r>
            <a:r>
              <a:rPr lang="en-US" dirty="0"/>
              <a:t>}}</a:t>
            </a:r>
            <a:endParaRPr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81047" y="296234"/>
            <a:ext cx="8229600" cy="1143000"/>
          </a:xfrm>
        </p:spPr>
        <p:txBody>
          <a:bodyPr/>
          <a:lstStyle/>
          <a:p>
            <a:r>
              <a:rPr lang="zh-CN" altLang="en-US" dirty="0"/>
              <a:t>月度销售趋势分析</a:t>
            </a:r>
            <a:endParaRPr dirty="0"/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51A4B362-E5CF-6097-3CE7-7AC86406F72F}"/>
              </a:ext>
            </a:extLst>
          </p:cNvPr>
          <p:cNvSpPr txBox="1"/>
          <p:nvPr/>
        </p:nvSpPr>
        <p:spPr>
          <a:xfrm>
            <a:off x="384313" y="1469916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dirty="0"/>
              <a:t>[</a:t>
            </a:r>
            <a:r>
              <a:rPr lang="en-US" altLang="zh-CN" dirty="0" err="1"/>
              <a:t>CHART:order_trend_line</a:t>
            </a:r>
            <a:r>
              <a:rPr lang="en-US" altLang="zh-CN" dirty="0"/>
              <a:t>]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81047" y="274638"/>
            <a:ext cx="8229600" cy="1143000"/>
          </a:xfrm>
        </p:spPr>
        <p:txBody>
          <a:bodyPr/>
          <a:lstStyle/>
          <a:p>
            <a:r>
              <a:rPr lang="zh-CN" altLang="en-US" dirty="0"/>
              <a:t>自定义月度趋势</a:t>
            </a:r>
            <a:endParaRPr dirty="0"/>
          </a:p>
        </p:txBody>
      </p:sp>
      <p:sp>
        <p:nvSpPr>
          <p:cNvPr id="5" name="TextBox 4"/>
          <p:cNvSpPr txBox="1"/>
          <p:nvPr/>
        </p:nvSpPr>
        <p:spPr>
          <a:xfrm>
            <a:off x="457200" y="5212080"/>
            <a:ext cx="4093300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en-US" dirty="0"/>
              <a:t>{{</a:t>
            </a:r>
            <a:r>
              <a:rPr lang="en-US" dirty="0" err="1"/>
              <a:t>INSIGHT:order_status_distribution_pie</a:t>
            </a:r>
            <a:r>
              <a:rPr lang="en-US" dirty="0"/>
              <a:t>}}</a:t>
            </a:r>
            <a:endParaRPr dirty="0"/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F6BFB64E-9587-0F2A-C7BF-7C0F4900F02E}"/>
              </a:ext>
            </a:extLst>
          </p:cNvPr>
          <p:cNvSpPr txBox="1"/>
          <p:nvPr/>
        </p:nvSpPr>
        <p:spPr>
          <a:xfrm>
            <a:off x="649356" y="1415189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dirty="0"/>
              <a:t>[</a:t>
            </a:r>
            <a:r>
              <a:rPr lang="en-US" altLang="zh-CN" dirty="0" err="1"/>
              <a:t>CHART:order_status_distribution_pie</a:t>
            </a:r>
            <a:r>
              <a:rPr lang="en-US" altLang="zh-CN" dirty="0"/>
              <a:t>]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457200" y="1371600"/>
            <a:ext cx="11277295" cy="40254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1200"/>
              </a:spcAft>
            </a:pPr>
            <a:r>
              <a:rPr dirty="0"/>
              <a:t>{{</a:t>
            </a:r>
            <a:r>
              <a:rPr dirty="0" err="1"/>
              <a:t>INSIGHT:conclusion</a:t>
            </a:r>
            <a:r>
              <a:rPr dirty="0"/>
              <a:t>}}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81047" y="319240"/>
            <a:ext cx="8229600" cy="1143000"/>
          </a:xfrm>
        </p:spPr>
        <p:txBody>
          <a:bodyPr/>
          <a:lstStyle/>
          <a:p>
            <a:r>
              <a:rPr dirty="0" err="1"/>
              <a:t>全量分析核心洞察结论</a:t>
            </a:r>
            <a:endParaRPr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457200" y="1371600"/>
            <a:ext cx="11277295" cy="40254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1200"/>
              </a:spcAft>
            </a:pPr>
            <a:r>
              <a:rPr dirty="0"/>
              <a:t>{{</a:t>
            </a:r>
            <a:r>
              <a:rPr dirty="0" err="1"/>
              <a:t>INSIGHT:strategy</a:t>
            </a:r>
            <a:r>
              <a:rPr dirty="0"/>
              <a:t>}}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81047" y="284733"/>
            <a:ext cx="8229600" cy="1143000"/>
          </a:xfrm>
        </p:spPr>
        <p:txBody>
          <a:bodyPr/>
          <a:lstStyle/>
          <a:p>
            <a:r>
              <a:rPr dirty="0" err="1"/>
              <a:t>可落地销售优化策略建议</a:t>
            </a:r>
            <a:endParaRPr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51895E09-4C12-2EA9-B38B-182B5C054CDF}"/>
              </a:ext>
            </a:extLst>
          </p:cNvPr>
          <p:cNvSpPr txBox="1"/>
          <p:nvPr/>
        </p:nvSpPr>
        <p:spPr>
          <a:xfrm>
            <a:off x="592666" y="1524001"/>
            <a:ext cx="598593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[</a:t>
            </a:r>
            <a:r>
              <a:rPr lang="en-US" altLang="zh-CN" dirty="0" err="1"/>
              <a:t>CHART:city_category_heatmap</a:t>
            </a:r>
            <a:r>
              <a:rPr lang="en-US" altLang="zh-CN" dirty="0"/>
              <a:t>]</a:t>
            </a:r>
            <a:endParaRPr lang="zh-CN" altLang="en-US" dirty="0"/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282B0B5A-6C79-09CB-4B29-77B61A6B5099}"/>
              </a:ext>
            </a:extLst>
          </p:cNvPr>
          <p:cNvSpPr txBox="1"/>
          <p:nvPr/>
        </p:nvSpPr>
        <p:spPr>
          <a:xfrm>
            <a:off x="6968066" y="1498603"/>
            <a:ext cx="430015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{{</a:t>
            </a:r>
            <a:r>
              <a:rPr lang="en-US" altLang="zh-CN" dirty="0" err="1"/>
              <a:t>INSIGHT:city_category_heatmap</a:t>
            </a:r>
            <a:r>
              <a:rPr lang="en-US" altLang="zh-CN" dirty="0"/>
              <a:t>}}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53972009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7498034B-3030-3F95-6288-8099ADF8FE2B}"/>
              </a:ext>
            </a:extLst>
          </p:cNvPr>
          <p:cNvSpPr txBox="1"/>
          <p:nvPr/>
        </p:nvSpPr>
        <p:spPr>
          <a:xfrm>
            <a:off x="618067" y="1261533"/>
            <a:ext cx="6172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[</a:t>
            </a:r>
            <a:r>
              <a:rPr lang="en-US" altLang="zh-CN" dirty="0" err="1"/>
              <a:t>CHART:abnormal_order_scatter</a:t>
            </a:r>
            <a:r>
              <a:rPr lang="en-US" altLang="zh-CN" dirty="0"/>
              <a:t>]</a:t>
            </a:r>
            <a:endParaRPr lang="zh-CN" altLang="en-US" dirty="0"/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32E8E8D2-E651-85DA-E1A8-B00DAF60790D}"/>
              </a:ext>
            </a:extLst>
          </p:cNvPr>
          <p:cNvSpPr txBox="1"/>
          <p:nvPr/>
        </p:nvSpPr>
        <p:spPr>
          <a:xfrm>
            <a:off x="7238999" y="1261533"/>
            <a:ext cx="46228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{{</a:t>
            </a:r>
            <a:r>
              <a:rPr lang="en-US" altLang="zh-CN" dirty="0" err="1"/>
              <a:t>INSIGHT:abnormal_order_scatter</a:t>
            </a:r>
            <a:r>
              <a:rPr lang="en-US" altLang="zh-CN" dirty="0"/>
              <a:t>}}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43950004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32B738-3E6A-4A09-AC6B-F87EDD35B8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61F36911-9F02-CF18-3C07-D893713B6E19}"/>
              </a:ext>
            </a:extLst>
          </p:cNvPr>
          <p:cNvSpPr txBox="1"/>
          <p:nvPr/>
        </p:nvSpPr>
        <p:spPr>
          <a:xfrm>
            <a:off x="618067" y="1261533"/>
            <a:ext cx="6172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[</a:t>
            </a:r>
            <a:r>
              <a:rPr lang="en-US" altLang="zh-CN" dirty="0" err="1"/>
              <a:t>CHART:city_sales_ranking</a:t>
            </a:r>
            <a:r>
              <a:rPr lang="en-US" altLang="zh-CN" dirty="0"/>
              <a:t>]</a:t>
            </a:r>
            <a:endParaRPr lang="zh-CN" altLang="en-US" dirty="0"/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AF816E85-15F3-BD16-400A-57C86B775B1F}"/>
              </a:ext>
            </a:extLst>
          </p:cNvPr>
          <p:cNvSpPr txBox="1"/>
          <p:nvPr/>
        </p:nvSpPr>
        <p:spPr>
          <a:xfrm>
            <a:off x="7238999" y="1261533"/>
            <a:ext cx="46228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73893179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527A68-AC2D-9E3A-DA71-353DBB3D3D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B861AAB3-5EBD-D241-1BE9-D84EA934CED2}"/>
              </a:ext>
            </a:extLst>
          </p:cNvPr>
          <p:cNvSpPr txBox="1"/>
          <p:nvPr/>
        </p:nvSpPr>
        <p:spPr>
          <a:xfrm>
            <a:off x="618067" y="1261533"/>
            <a:ext cx="6172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[</a:t>
            </a:r>
            <a:r>
              <a:rPr lang="en-US" altLang="zh-CN" dirty="0" err="1"/>
              <a:t>CHART:category_pie</a:t>
            </a:r>
            <a:r>
              <a:rPr lang="en-US" altLang="zh-CN" dirty="0"/>
              <a:t>]</a:t>
            </a:r>
            <a:endParaRPr lang="zh-CN" altLang="en-US" dirty="0"/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A8B4C311-1EE0-A8B7-E1F1-C52114B30F71}"/>
              </a:ext>
            </a:extLst>
          </p:cNvPr>
          <p:cNvSpPr txBox="1"/>
          <p:nvPr/>
        </p:nvSpPr>
        <p:spPr>
          <a:xfrm>
            <a:off x="7238999" y="1261533"/>
            <a:ext cx="46228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07119633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209647" y="1973053"/>
            <a:ext cx="7772400" cy="1470025"/>
          </a:xfrm>
        </p:spPr>
        <p:txBody>
          <a:bodyPr/>
          <a:lstStyle/>
          <a:p>
            <a:r>
              <a:rPr dirty="0" err="1"/>
              <a:t>感谢观看</a:t>
            </a:r>
            <a:endParaRPr dirty="0"/>
          </a:p>
        </p:txBody>
      </p:sp>
      <p:sp>
        <p:nvSpPr>
          <p:cNvPr id="4" name="TextBox 3"/>
          <p:cNvSpPr txBox="1"/>
          <p:nvPr/>
        </p:nvSpPr>
        <p:spPr>
          <a:xfrm>
            <a:off x="4439444" y="5943600"/>
            <a:ext cx="3313112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2C3E50"/>
                </a:solidFill>
              </a:defRPr>
            </a:pPr>
            <a:r>
              <a:rPr lang="en-US" altLang="zh-CN" sz="1400" dirty="0"/>
              <a:t>[</a:t>
            </a:r>
            <a:r>
              <a:rPr lang="en-US" altLang="zh-CN" sz="1400" dirty="0" err="1"/>
              <a:t>DATE:report_date</a:t>
            </a:r>
            <a:r>
              <a:rPr lang="en-US" altLang="zh-CN" sz="1400" dirty="0"/>
              <a:t>]</a:t>
            </a:r>
            <a:endParaRPr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633</TotalTime>
  <Words>285</Words>
  <Application>Microsoft Office PowerPoint</Application>
  <PresentationFormat>宽屏</PresentationFormat>
  <Paragraphs>46</Paragraphs>
  <Slides>16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2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PowerPoint 演示文稿</vt:lpstr>
      <vt:lpstr>报告目录</vt:lpstr>
      <vt:lpstr>核心经营指标总览</vt:lpstr>
      <vt:lpstr>核心 KPI 指标概览</vt:lpstr>
      <vt:lpstr>销售员业绩排名分析</vt:lpstr>
      <vt:lpstr>商品类别支付金额占比</vt:lpstr>
      <vt:lpstr>新老客销售与订单对比</vt:lpstr>
      <vt:lpstr>月度销售趋势分析</vt:lpstr>
      <vt:lpstr>自定义月度趋势</vt:lpstr>
      <vt:lpstr>全量分析核心洞察结论</vt:lpstr>
      <vt:lpstr>可落地销售优化策略建议</vt:lpstr>
      <vt:lpstr>PowerPoint 演示文稿</vt:lpstr>
      <vt:lpstr>PowerPoint 演示文稿</vt:lpstr>
      <vt:lpstr>PowerPoint 演示文稿</vt:lpstr>
      <vt:lpstr>PowerPoint 演示文稿</vt:lpstr>
      <vt:lpstr>感谢观看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嘉豪 李</cp:lastModifiedBy>
  <cp:revision>51</cp:revision>
  <dcterms:created xsi:type="dcterms:W3CDTF">2013-01-27T09:14:16Z</dcterms:created>
  <dcterms:modified xsi:type="dcterms:W3CDTF">2026-04-12T13:46:51Z</dcterms:modified>
  <cp:category/>
</cp:coreProperties>
</file>