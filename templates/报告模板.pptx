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6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rPr dirty="0"/>
              <a:t>[</a:t>
            </a:r>
            <a:r>
              <a:rPr dirty="0" err="1"/>
              <a:t>TEXT:report_title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rPr dirty="0"/>
              <a:t>[</a:t>
            </a:r>
            <a:r>
              <a:rPr dirty="0" err="1"/>
              <a:t>TEXT:report_subtitle</a:t>
            </a:r>
            <a:r>
              <a:rPr dirty="0"/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97488" y="5943600"/>
            <a:ext cx="15967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lang="en-US" dirty="0"/>
              <a:t>[</a:t>
            </a:r>
            <a:r>
              <a:rPr lang="en-US" dirty="0" err="1"/>
              <a:t>DATE:report_date</a:t>
            </a:r>
            <a:r>
              <a:rPr lang="en-US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0646"/>
            <a:ext cx="8229600" cy="1143000"/>
          </a:xfrm>
        </p:spPr>
        <p:txBody>
          <a:bodyPr/>
          <a:lstStyle/>
          <a:p>
            <a:r>
              <a:rPr dirty="0" err="1"/>
              <a:t>报告目录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1638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2400" dirty="0"/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1. </a:t>
            </a:r>
            <a:r>
              <a:rPr sz="2400" dirty="0" err="1">
                <a:solidFill>
                  <a:schemeClr val="tx2"/>
                </a:solidFill>
              </a:rPr>
              <a:t>分析背景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2. </a:t>
            </a:r>
            <a:r>
              <a:rPr sz="2400" dirty="0" err="1">
                <a:solidFill>
                  <a:schemeClr val="tx2"/>
                </a:solidFill>
              </a:rPr>
              <a:t>核心指标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3. </a:t>
            </a:r>
            <a:r>
              <a:rPr sz="2400" dirty="0" err="1">
                <a:solidFill>
                  <a:schemeClr val="tx2"/>
                </a:solidFill>
              </a:rPr>
              <a:t>多维度分析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4. </a:t>
            </a:r>
            <a:r>
              <a:rPr sz="2400" dirty="0" err="1">
                <a:solidFill>
                  <a:schemeClr val="tx2"/>
                </a:solidFill>
              </a:rPr>
              <a:t>专项洞察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5. </a:t>
            </a:r>
            <a:r>
              <a:rPr sz="2400" dirty="0" err="1">
                <a:solidFill>
                  <a:schemeClr val="tx2"/>
                </a:solidFill>
              </a:rPr>
              <a:t>结论策略</a:t>
            </a:r>
            <a:endParaRPr sz="2400" dirty="0">
              <a:solidFill>
                <a:schemeClr val="tx2"/>
              </a:solidFill>
            </a:endParaRPr>
          </a:p>
          <a:p>
            <a:pPr marL="0" indent="0" algn="ctr">
              <a:buNone/>
              <a:defRPr sz="1800"/>
            </a:pPr>
            <a:r>
              <a:rPr sz="2400" dirty="0">
                <a:solidFill>
                  <a:schemeClr val="tx2"/>
                </a:solidFill>
              </a:rPr>
              <a:t>6. </a:t>
            </a:r>
            <a:r>
              <a:rPr sz="2400" dirty="0" err="1">
                <a:solidFill>
                  <a:schemeClr val="tx2"/>
                </a:solidFill>
              </a:rPr>
              <a:t>结束页</a:t>
            </a:r>
            <a:endParaRPr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核心经营指标总览</a:t>
            </a:r>
            <a:endParaRPr dirty="0"/>
          </a:p>
        </p:txBody>
      </p:sp>
      <p:sp>
        <p:nvSpPr>
          <p:cNvPr id="4" name="KPI:cards"/>
          <p:cNvSpPr txBox="1"/>
          <p:nvPr/>
        </p:nvSpPr>
        <p:spPr>
          <a:xfrm>
            <a:off x="731520" y="1600200"/>
            <a:ext cx="457200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  <a:defRPr sz="2400">
                <a:solidFill>
                  <a:srgbClr val="2C3E50"/>
                </a:solidFill>
              </a:defRPr>
            </a:pPr>
            <a:r>
              <a:rPr dirty="0"/>
              <a:t>[</a:t>
            </a:r>
            <a:r>
              <a:rPr lang="en-US" altLang="zh-CN" sz="2400" dirty="0" err="1"/>
              <a:t>TABLE</a:t>
            </a:r>
            <a:r>
              <a:rPr dirty="0" err="1"/>
              <a:t>:</a:t>
            </a:r>
            <a:r>
              <a:rPr lang="en-US" altLang="zh-CN" dirty="0" err="1"/>
              <a:t>kpi_table</a:t>
            </a:r>
            <a:r>
              <a:rPr dirty="0"/>
              <a:t>]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85B51B-EE5D-A1BB-3638-241B28194F0A}"/>
              </a:ext>
            </a:extLst>
          </p:cNvPr>
          <p:cNvSpPr txBox="1"/>
          <p:nvPr/>
        </p:nvSpPr>
        <p:spPr>
          <a:xfrm>
            <a:off x="731520" y="4827137"/>
            <a:ext cx="264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</a:t>
            </a:r>
            <a:r>
              <a:rPr lang="en-US" altLang="zh-CN" dirty="0" err="1"/>
              <a:t>IMAGE:logo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10B29E-29B3-4E4A-6538-4D9C134F3D74}"/>
              </a:ext>
            </a:extLst>
          </p:cNvPr>
          <p:cNvSpPr txBox="1"/>
          <p:nvPr/>
        </p:nvSpPr>
        <p:spPr>
          <a:xfrm>
            <a:off x="7408333" y="4919134"/>
            <a:ext cx="154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[</a:t>
            </a:r>
            <a:r>
              <a:rPr lang="en-US" altLang="zh-CN" dirty="0" err="1"/>
              <a:t>LINK:website</a:t>
            </a:r>
            <a:r>
              <a:rPr lang="en-US" altLang="zh-CN" dirty="0"/>
              <a:t>]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420EBFF-1D23-DB4B-2510-6867372F7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84782"/>
              </p:ext>
            </p:extLst>
          </p:nvPr>
        </p:nvGraphicFramePr>
        <p:xfrm>
          <a:off x="7399098" y="1812346"/>
          <a:ext cx="2751667" cy="365760"/>
        </p:xfrm>
        <a:graphic>
          <a:graphicData uri="http://schemas.openxmlformats.org/drawingml/2006/table">
            <a:tbl>
              <a:tblPr/>
              <a:tblGrid>
                <a:gridCol w="2751667">
                  <a:extLst>
                    <a:ext uri="{9D8B030D-6E8A-4147-A177-3AD203B41FA5}">
                      <a16:colId xmlns:a16="http://schemas.microsoft.com/office/drawing/2014/main" val="2762140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[</a:t>
                      </a:r>
                      <a:r>
                        <a:rPr lang="en-US" dirty="0" err="1"/>
                        <a:t>IMAGE:redhat</a:t>
                      </a:r>
                      <a:r>
                        <a:rPr lang="en-US" dirty="0"/>
                        <a:t>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7060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dirty="0" err="1"/>
              <a:t>销售员业绩表现分析</a:t>
            </a:r>
            <a:endParaRPr dirty="0"/>
          </a:p>
        </p:txBody>
      </p:sp>
      <p:sp>
        <p:nvSpPr>
          <p:cNvPr id="4" name="CHART:sales_by_person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[</a:t>
            </a:r>
            <a:r>
              <a:rPr lang="en-US" dirty="0" err="1"/>
              <a:t>CHART:sales_by_person</a:t>
            </a:r>
            <a:r>
              <a:rPr lang="en-US"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29071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{{</a:t>
            </a:r>
            <a:r>
              <a:rPr dirty="0" err="1"/>
              <a:t>INSIGHT:</a:t>
            </a:r>
            <a:r>
              <a:rPr lang="en-US" altLang="zh-CN" dirty="0" err="1"/>
              <a:t>sales_by_person</a:t>
            </a:r>
            <a:r>
              <a:rPr dirty="0"/>
              <a:t>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BDF351-D7B2-0A75-E9F2-0110C61C71F6}"/>
              </a:ext>
            </a:extLst>
          </p:cNvPr>
          <p:cNvSpPr txBox="1"/>
          <p:nvPr/>
        </p:nvSpPr>
        <p:spPr>
          <a:xfrm>
            <a:off x="756490" y="905270"/>
            <a:ext cx="7332133" cy="540000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[</a:t>
            </a:r>
            <a:r>
              <a:rPr lang="en-US" altLang="zh-CN" dirty="0" err="1">
                <a:solidFill>
                  <a:schemeClr val="accent1"/>
                </a:solidFill>
              </a:rPr>
              <a:t>CHART:sales_by_person</a:t>
            </a:r>
            <a:r>
              <a:rPr lang="en-US" altLang="zh-CN" dirty="0">
                <a:solidFill>
                  <a:schemeClr val="accent1"/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4135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278982"/>
            <a:ext cx="8229600" cy="1143000"/>
          </a:xfrm>
        </p:spPr>
        <p:txBody>
          <a:bodyPr/>
          <a:lstStyle/>
          <a:p>
            <a:r>
              <a:rPr dirty="0" err="1"/>
              <a:t>产品销售结构与占比分析</a:t>
            </a:r>
            <a:endParaRPr dirty="0"/>
          </a:p>
        </p:txBody>
      </p:sp>
      <p:sp>
        <p:nvSpPr>
          <p:cNvPr id="4" name="CHART:product_pie"/>
          <p:cNvSpPr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</a:t>
            </a:r>
            <a:r>
              <a:rPr dirty="0" err="1"/>
              <a:t>CHART:product_pie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371600"/>
            <a:ext cx="243727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{{</a:t>
            </a:r>
            <a:r>
              <a:rPr dirty="0" err="1"/>
              <a:t>INSIGHT:</a:t>
            </a:r>
            <a:r>
              <a:rPr lang="en-US" dirty="0" err="1"/>
              <a:t>product_pie</a:t>
            </a:r>
            <a:r>
              <a:rPr dirty="0"/>
              <a:t>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0196"/>
            <a:ext cx="8229600" cy="1143000"/>
          </a:xfrm>
        </p:spPr>
        <p:txBody>
          <a:bodyPr/>
          <a:lstStyle/>
          <a:p>
            <a:r>
              <a:rPr dirty="0" err="1"/>
              <a:t>福建各城市销售业绩排名</a:t>
            </a:r>
            <a:endParaRPr dirty="0"/>
          </a:p>
        </p:txBody>
      </p:sp>
      <p:sp>
        <p:nvSpPr>
          <p:cNvPr id="4" name="CHART:city_ranking"/>
          <p:cNvSpPr/>
          <p:nvPr/>
        </p:nvSpPr>
        <p:spPr>
          <a:xfrm>
            <a:off x="457200" y="1371600"/>
            <a:ext cx="7315200" cy="41148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</a:t>
            </a:r>
            <a:r>
              <a:rPr dirty="0" err="1"/>
              <a:t>CHART:city_ranking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243624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{{</a:t>
            </a:r>
            <a:r>
              <a:rPr dirty="0" err="1"/>
              <a:t>INSIGHT:</a:t>
            </a:r>
            <a:r>
              <a:rPr lang="en-US" dirty="0" err="1"/>
              <a:t>city_ranking</a:t>
            </a:r>
            <a:r>
              <a:rPr dirty="0"/>
              <a:t>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96234"/>
            <a:ext cx="8229600" cy="1143000"/>
          </a:xfrm>
        </p:spPr>
        <p:txBody>
          <a:bodyPr/>
          <a:lstStyle/>
          <a:p>
            <a:r>
              <a:rPr dirty="0" err="1"/>
              <a:t>新老客销售贡献对比分析</a:t>
            </a:r>
            <a:endParaRPr dirty="0"/>
          </a:p>
        </p:txBody>
      </p:sp>
      <p:sp>
        <p:nvSpPr>
          <p:cNvPr id="4" name="CHART:customer_comparison"/>
          <p:cNvSpPr/>
          <p:nvPr/>
        </p:nvSpPr>
        <p:spPr>
          <a:xfrm>
            <a:off x="279400" y="1261632"/>
            <a:ext cx="7459133" cy="5300134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</a:t>
            </a:r>
            <a:r>
              <a:rPr dirty="0" err="1"/>
              <a:t>CHART:customer_comparison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3928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{{</a:t>
            </a:r>
            <a:r>
              <a:rPr dirty="0" err="1"/>
              <a:t>INSIGHT:</a:t>
            </a:r>
            <a:r>
              <a:rPr lang="en-US" dirty="0" err="1"/>
              <a:t>customer_comparison</a:t>
            </a:r>
            <a:r>
              <a:rPr dirty="0"/>
              <a:t>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5212080"/>
            <a:ext cx="9544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{{</a:t>
            </a:r>
            <a:r>
              <a:rPr dirty="0" err="1"/>
              <a:t>INSIGHT:</a:t>
            </a:r>
            <a:r>
              <a:rPr lang="en-US" dirty="0" err="1"/>
              <a:t>monthly_trend</a:t>
            </a:r>
            <a:r>
              <a:rPr dirty="0"/>
              <a:t>}}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96234"/>
            <a:ext cx="8229600" cy="1143000"/>
          </a:xfrm>
        </p:spPr>
        <p:txBody>
          <a:bodyPr/>
          <a:lstStyle/>
          <a:p>
            <a:r>
              <a:rPr dirty="0"/>
              <a:t>2022 </a:t>
            </a:r>
            <a:r>
              <a:rPr dirty="0" err="1"/>
              <a:t>年上半年销售趋势分析</a:t>
            </a:r>
            <a:endParaRPr dirty="0"/>
          </a:p>
        </p:txBody>
      </p:sp>
      <p:sp>
        <p:nvSpPr>
          <p:cNvPr id="4" name="CHART:monthly_trend"/>
          <p:cNvSpPr/>
          <p:nvPr/>
        </p:nvSpPr>
        <p:spPr>
          <a:xfrm>
            <a:off x="457200" y="1371600"/>
            <a:ext cx="7973683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</a:t>
            </a:r>
            <a:r>
              <a:rPr dirty="0" err="1"/>
              <a:t>CHART:monthly_trend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74638"/>
            <a:ext cx="8229600" cy="1143000"/>
          </a:xfrm>
        </p:spPr>
        <p:txBody>
          <a:bodyPr/>
          <a:lstStyle/>
          <a:p>
            <a:r>
              <a:rPr dirty="0" err="1"/>
              <a:t>销售员</a:t>
            </a:r>
            <a:r>
              <a:rPr dirty="0"/>
              <a:t> - </a:t>
            </a:r>
            <a:r>
              <a:rPr dirty="0" err="1"/>
              <a:t>产品销售能力矩阵分析</a:t>
            </a:r>
            <a:endParaRPr dirty="0"/>
          </a:p>
        </p:txBody>
      </p:sp>
      <p:sp>
        <p:nvSpPr>
          <p:cNvPr id="4" name="CHART:heatmap"/>
          <p:cNvSpPr/>
          <p:nvPr/>
        </p:nvSpPr>
        <p:spPr>
          <a:xfrm>
            <a:off x="457201" y="1371600"/>
            <a:ext cx="7197306" cy="3657600"/>
          </a:xfrm>
          <a:prstGeom prst="rect">
            <a:avLst/>
          </a:prstGeom>
          <a:solidFill>
            <a:srgbClr val="ECF0F1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[</a:t>
            </a:r>
            <a:r>
              <a:rPr dirty="0" err="1"/>
              <a:t>CHART:heatmap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772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{{</a:t>
            </a:r>
            <a:r>
              <a:rPr dirty="0" err="1"/>
              <a:t>INSIGHT:heatmap</a:t>
            </a:r>
            <a:r>
              <a:rPr dirty="0"/>
              <a:t>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332148"/>
            <a:ext cx="8229600" cy="1143000"/>
          </a:xfrm>
        </p:spPr>
        <p:txBody>
          <a:bodyPr/>
          <a:lstStyle/>
          <a:p>
            <a:r>
              <a:rPr dirty="0" err="1"/>
              <a:t>异常订单专项排查与分析</a:t>
            </a:r>
            <a:endParaRPr dirty="0"/>
          </a:p>
        </p:txBody>
      </p:sp>
      <p:sp>
        <p:nvSpPr>
          <p:cNvPr id="4" name="TABLE:abnormal_orders"/>
          <p:cNvSpPr txBox="1"/>
          <p:nvPr/>
        </p:nvSpPr>
        <p:spPr>
          <a:xfrm>
            <a:off x="457200" y="1371600"/>
            <a:ext cx="11277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[</a:t>
            </a:r>
            <a:r>
              <a:rPr dirty="0" err="1"/>
              <a:t>TABLE:abnormal_orders</a:t>
            </a:r>
            <a:r>
              <a:rPr dirty="0"/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11277295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dirty="0"/>
              <a:t>{{</a:t>
            </a:r>
            <a:r>
              <a:rPr dirty="0" err="1"/>
              <a:t>INSIGHT:conclusion</a:t>
            </a:r>
            <a:r>
              <a:rPr dirty="0"/>
              <a:t>}}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319240"/>
            <a:ext cx="8229600" cy="1143000"/>
          </a:xfrm>
        </p:spPr>
        <p:txBody>
          <a:bodyPr/>
          <a:lstStyle/>
          <a:p>
            <a:r>
              <a:rPr dirty="0" err="1"/>
              <a:t>全量分析核心洞察结论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11277295" cy="402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dirty="0"/>
              <a:t>{{</a:t>
            </a:r>
            <a:r>
              <a:rPr dirty="0" err="1"/>
              <a:t>INSIGHT:strategy</a:t>
            </a:r>
            <a:r>
              <a:rPr dirty="0"/>
              <a:t>}}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047" y="284733"/>
            <a:ext cx="8229600" cy="1143000"/>
          </a:xfrm>
        </p:spPr>
        <p:txBody>
          <a:bodyPr/>
          <a:lstStyle/>
          <a:p>
            <a:r>
              <a:rPr dirty="0" err="1"/>
              <a:t>可落地销售优化策略建议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647" y="1973053"/>
            <a:ext cx="7772400" cy="1470025"/>
          </a:xfrm>
        </p:spPr>
        <p:txBody>
          <a:bodyPr/>
          <a:lstStyle/>
          <a:p>
            <a:r>
              <a:rPr dirty="0" err="1"/>
              <a:t>感谢观看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39444" y="5943600"/>
            <a:ext cx="3313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lang="en-US" altLang="zh-CN" sz="1400" dirty="0"/>
              <a:t>[</a:t>
            </a:r>
            <a:r>
              <a:rPr lang="en-US" altLang="zh-CN" sz="1400" dirty="0" err="1"/>
              <a:t>DATE:report_date</a:t>
            </a:r>
            <a:r>
              <a:rPr lang="en-US" altLang="zh-CN" sz="1400" dirty="0"/>
              <a:t>]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EDA7A49-F1AA-5E02-8E84-186665F143DC}"/>
              </a:ext>
            </a:extLst>
          </p:cNvPr>
          <p:cNvSpPr txBox="1"/>
          <p:nvPr/>
        </p:nvSpPr>
        <p:spPr>
          <a:xfrm>
            <a:off x="2068436" y="3058510"/>
            <a:ext cx="2989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425793-6A16-ECF1-4B70-F2855E9017EA}"/>
              </a:ext>
            </a:extLst>
          </p:cNvPr>
          <p:cNvSpPr/>
          <p:nvPr/>
        </p:nvSpPr>
        <p:spPr>
          <a:xfrm>
            <a:off x="5240458" y="1513490"/>
            <a:ext cx="6180083" cy="418101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[</a:t>
            </a:r>
            <a:r>
              <a:rPr lang="en-US" altLang="zh-CN" dirty="0" err="1"/>
              <a:t>CHART:customer_city</a:t>
            </a:r>
            <a:r>
              <a:rPr lang="en-US" altLang="zh-CN" dirty="0"/>
              <a:t>]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A9A806-473D-37B7-BE4F-455A7EF285BA}"/>
              </a:ext>
            </a:extLst>
          </p:cNvPr>
          <p:cNvSpPr txBox="1"/>
          <p:nvPr/>
        </p:nvSpPr>
        <p:spPr>
          <a:xfrm>
            <a:off x="1705855" y="3672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8BA3899-CA74-E6FD-4376-3E353B599B76}"/>
              </a:ext>
            </a:extLst>
          </p:cNvPr>
          <p:cNvSpPr txBox="1"/>
          <p:nvPr/>
        </p:nvSpPr>
        <p:spPr>
          <a:xfrm>
            <a:off x="1039017" y="1849030"/>
            <a:ext cx="26237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dirty="0"/>
              <a:t>{{</a:t>
            </a:r>
            <a:r>
              <a:rPr lang="en-US" altLang="zh-CN" dirty="0" err="1"/>
              <a:t>INSIGHT:customer_city</a:t>
            </a:r>
            <a:r>
              <a:rPr lang="en-US" altLang="zh-CN" dirty="0"/>
              <a:t>}}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283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56E4-8158-2D57-07EC-3B9E815E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1719BC4-BCF6-5626-55E1-A585248D91C0}"/>
              </a:ext>
            </a:extLst>
          </p:cNvPr>
          <p:cNvSpPr/>
          <p:nvPr/>
        </p:nvSpPr>
        <p:spPr>
          <a:xfrm>
            <a:off x="457200" y="1202267"/>
            <a:ext cx="6620934" cy="4292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[</a:t>
            </a:r>
            <a:r>
              <a:rPr lang="en-US" altLang="zh-CN" dirty="0" err="1"/>
              <a:t>CHART:age_scatter</a:t>
            </a:r>
            <a:r>
              <a:rPr lang="en-US" altLang="zh-CN" dirty="0"/>
              <a:t>]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9D3181-4D8D-3F3B-C120-06CD2958191F}"/>
              </a:ext>
            </a:extLst>
          </p:cNvPr>
          <p:cNvSpPr txBox="1"/>
          <p:nvPr/>
        </p:nvSpPr>
        <p:spPr>
          <a:xfrm>
            <a:off x="7780866" y="1386933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{{</a:t>
            </a:r>
            <a:r>
              <a:rPr lang="en-US" altLang="zh-CN" dirty="0" err="1"/>
              <a:t>INSIGHT:age_scatter</a:t>
            </a:r>
            <a:r>
              <a:rPr lang="en-US" altLang="zh-CN" dirty="0"/>
              <a:t>}}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633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221</Words>
  <Application>Microsoft Office PowerPoint</Application>
  <PresentationFormat>宽屏</PresentationFormat>
  <Paragraphs>47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演示文稿</vt:lpstr>
      <vt:lpstr>报告目录</vt:lpstr>
      <vt:lpstr>核心经营指标总览</vt:lpstr>
      <vt:lpstr>销售员业绩表现分析</vt:lpstr>
      <vt:lpstr>PowerPoint 演示文稿</vt:lpstr>
      <vt:lpstr>产品销售结构与占比分析</vt:lpstr>
      <vt:lpstr>福建各城市销售业绩排名</vt:lpstr>
      <vt:lpstr>新老客销售贡献对比分析</vt:lpstr>
      <vt:lpstr>2022 年上半年销售趋势分析</vt:lpstr>
      <vt:lpstr>销售员 - 产品销售能力矩阵分析</vt:lpstr>
      <vt:lpstr>异常订单专项排查与分析</vt:lpstr>
      <vt:lpstr>全量分析核心洞察结论</vt:lpstr>
      <vt:lpstr>可落地销售优化策略建议</vt:lpstr>
      <vt:lpstr>感谢观看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嘉豪 李</cp:lastModifiedBy>
  <cp:revision>36</cp:revision>
  <dcterms:created xsi:type="dcterms:W3CDTF">2013-01-27T09:14:16Z</dcterms:created>
  <dcterms:modified xsi:type="dcterms:W3CDTF">2026-04-11T14:25:38Z</dcterms:modified>
  <cp:category/>
</cp:coreProperties>
</file>