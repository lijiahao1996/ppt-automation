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4E79"/>
                </a:solidFill>
              </a:defRPr>
            </a:pPr>
            <a:r>
              <a:t>[TEXT:report_title]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[TEXT:report_subtitle]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[TEXT:report_date]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报告目录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分析背景</a:t>
            </a:r>
          </a:p>
          <a:p>
            <a:pPr>
              <a:defRPr sz="1800"/>
            </a:pPr>
            <a:r>
              <a:t>2. 核心指标</a:t>
            </a:r>
          </a:p>
          <a:p>
            <a:pPr>
              <a:defRPr sz="1800"/>
            </a:pPr>
            <a:r>
              <a:t>3. 多维度分析</a:t>
            </a:r>
          </a:p>
          <a:p>
            <a:pPr>
              <a:defRPr sz="1800"/>
            </a:pPr>
            <a:r>
              <a:t>4. 专项洞察</a:t>
            </a:r>
          </a:p>
          <a:p>
            <a:pPr>
              <a:defRPr sz="1800"/>
            </a:pPr>
            <a:r>
              <a:t>5. 结论策略</a:t>
            </a:r>
          </a:p>
          <a:p>
            <a:pPr>
              <a:defRPr sz="1800"/>
            </a:pPr>
            <a:r>
              <a:t>6. 结束页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核心经营指标总览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KPI:cards"/>
          <p:cNvSpPr txBox="1"/>
          <p:nvPr/>
        </p:nvSpPr>
        <p:spPr>
          <a:xfrm>
            <a:off x="457200" y="1371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[KPI:cards]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371600"/>
            <a:ext cx="6430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400"/>
            </a:pPr>
            <a:r>
              <a:t>{{INSIGHT:kpi_summary}}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销售员业绩表现分析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HART:sales_by_person"/>
          <p:cNvSpPr/>
          <p:nvPr/>
        </p:nvSpPr>
        <p:spPr>
          <a:xfrm>
            <a:off x="457200" y="1371600"/>
            <a:ext cx="7315200" cy="4114800"/>
          </a:xfrm>
          <a:prstGeom prst="rect">
            <a:avLst/>
          </a:prstGeom>
          <a:solidFill>
            <a:srgbClr val="ECF0F1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[CHART:sales_by_person]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{{INSIGHT:sales_by_person}}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产品销售结构与占比分析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HART:product_pie"/>
          <p:cNvSpPr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solidFill>
            <a:srgbClr val="ECF0F1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[CHART:product_pie]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371600"/>
            <a:ext cx="5943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{{INSIGHT:product}}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福建各城市销售业绩排名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HART:city_ranking"/>
          <p:cNvSpPr/>
          <p:nvPr/>
        </p:nvSpPr>
        <p:spPr>
          <a:xfrm>
            <a:off x="457200" y="1371600"/>
            <a:ext cx="7315200" cy="4114800"/>
          </a:xfrm>
          <a:prstGeom prst="rect">
            <a:avLst/>
          </a:prstGeom>
          <a:solidFill>
            <a:srgbClr val="ECF0F1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[CHART:city_ranking]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{{INSIGHT:city}}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新老客销售贡献对比分析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HART:customer_comparison"/>
          <p:cNvSpPr/>
          <p:nvPr/>
        </p:nvSpPr>
        <p:spPr>
          <a:xfrm>
            <a:off x="457200" y="1371600"/>
            <a:ext cx="7315200" cy="4114800"/>
          </a:xfrm>
          <a:prstGeom prst="rect">
            <a:avLst/>
          </a:prstGeom>
          <a:solidFill>
            <a:srgbClr val="ECF0F1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[CHART:customer_comparison]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{{INSIGHT:customer}}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2022 年上半年销售趋势分析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HART:monthly_trend"/>
          <p:cNvSpPr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solidFill>
            <a:srgbClr val="ECF0F1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[CHART:monthly_trend]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1127729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{{INSIGHT:trend}}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销售员 - 产品销售能力矩阵分析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HART:heatmap"/>
          <p:cNvSpPr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solidFill>
            <a:srgbClr val="ECF0F1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[CHART:heatmap]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1127729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{{INSIGHT:heatmap}}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异常订单专项排查与分析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ABLE:abnormal_orders"/>
          <p:cNvSpPr txBox="1"/>
          <p:nvPr/>
        </p:nvSpPr>
        <p:spPr>
          <a:xfrm>
            <a:off x="457200" y="1371600"/>
            <a:ext cx="112772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[TABLE:abnormal_orders]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{{INSIGHT:abnormal}}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全量分析核心洞察结论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t>{{INSIGHT:conclusion}}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可落地销售优化策略建议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t>{{INSIGHT:strategy}}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感谢观看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[TEXT:report_date]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