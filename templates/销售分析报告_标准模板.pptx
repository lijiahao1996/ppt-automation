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2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CF0F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5" d="100"/>
          <a:sy n="75" d="100"/>
        </p:scale>
        <p:origin x="132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57200" y="1828800"/>
            <a:ext cx="11277295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1F4E79"/>
                </a:solidFill>
              </a:defRPr>
            </a:pPr>
            <a:r>
              <a:rPr dirty="0"/>
              <a:t>[</a:t>
            </a:r>
            <a:r>
              <a:rPr dirty="0" err="1"/>
              <a:t>TEXT:report_title</a:t>
            </a:r>
            <a:r>
              <a:rPr dirty="0"/>
              <a:t>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2C3E50"/>
                </a:solidFill>
              </a:defRPr>
            </a:pPr>
            <a:r>
              <a:rPr dirty="0"/>
              <a:t>[</a:t>
            </a:r>
            <a:r>
              <a:rPr dirty="0" err="1"/>
              <a:t>TEXT:report_subtitle</a:t>
            </a:r>
            <a:r>
              <a:rPr dirty="0"/>
              <a:t>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94360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2C3E50"/>
                </a:solidFill>
              </a:defRPr>
            </a:pPr>
            <a:r>
              <a:rPr dirty="0"/>
              <a:t>[</a:t>
            </a:r>
            <a:r>
              <a:rPr dirty="0" err="1"/>
              <a:t>TEXT:report_date</a:t>
            </a:r>
            <a:r>
              <a:rPr dirty="0"/>
              <a:t>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320646"/>
            <a:ext cx="8229600" cy="1143000"/>
          </a:xfrm>
        </p:spPr>
        <p:txBody>
          <a:bodyPr/>
          <a:lstStyle/>
          <a:p>
            <a:r>
              <a:rPr dirty="0" err="1"/>
              <a:t>报告目录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01638"/>
            <a:ext cx="8229600" cy="452596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endParaRPr sz="2400" dirty="0"/>
          </a:p>
          <a:p>
            <a:pPr marL="0" indent="0" algn="ctr">
              <a:buNone/>
              <a:defRPr sz="1800"/>
            </a:pPr>
            <a:r>
              <a:rPr sz="2400" dirty="0">
                <a:solidFill>
                  <a:schemeClr val="tx2"/>
                </a:solidFill>
              </a:rPr>
              <a:t>1. </a:t>
            </a:r>
            <a:r>
              <a:rPr sz="2400" dirty="0" err="1">
                <a:solidFill>
                  <a:schemeClr val="tx2"/>
                </a:solidFill>
              </a:rPr>
              <a:t>分析背景</a:t>
            </a:r>
            <a:endParaRPr sz="2400" dirty="0">
              <a:solidFill>
                <a:schemeClr val="tx2"/>
              </a:solidFill>
            </a:endParaRPr>
          </a:p>
          <a:p>
            <a:pPr marL="0" indent="0" algn="ctr">
              <a:buNone/>
              <a:defRPr sz="1800"/>
            </a:pPr>
            <a:r>
              <a:rPr sz="2400" dirty="0">
                <a:solidFill>
                  <a:schemeClr val="tx2"/>
                </a:solidFill>
              </a:rPr>
              <a:t>2. </a:t>
            </a:r>
            <a:r>
              <a:rPr sz="2400" dirty="0" err="1">
                <a:solidFill>
                  <a:schemeClr val="tx2"/>
                </a:solidFill>
              </a:rPr>
              <a:t>核心指标</a:t>
            </a:r>
            <a:endParaRPr sz="2400" dirty="0">
              <a:solidFill>
                <a:schemeClr val="tx2"/>
              </a:solidFill>
            </a:endParaRPr>
          </a:p>
          <a:p>
            <a:pPr marL="0" indent="0" algn="ctr">
              <a:buNone/>
              <a:defRPr sz="1800"/>
            </a:pPr>
            <a:r>
              <a:rPr sz="2400" dirty="0">
                <a:solidFill>
                  <a:schemeClr val="tx2"/>
                </a:solidFill>
              </a:rPr>
              <a:t>3. </a:t>
            </a:r>
            <a:r>
              <a:rPr sz="2400" dirty="0" err="1">
                <a:solidFill>
                  <a:schemeClr val="tx2"/>
                </a:solidFill>
              </a:rPr>
              <a:t>多维度分析</a:t>
            </a:r>
            <a:endParaRPr sz="2400" dirty="0">
              <a:solidFill>
                <a:schemeClr val="tx2"/>
              </a:solidFill>
            </a:endParaRPr>
          </a:p>
          <a:p>
            <a:pPr marL="0" indent="0" algn="ctr">
              <a:buNone/>
              <a:defRPr sz="1800"/>
            </a:pPr>
            <a:r>
              <a:rPr sz="2400" dirty="0">
                <a:solidFill>
                  <a:schemeClr val="tx2"/>
                </a:solidFill>
              </a:rPr>
              <a:t>4. </a:t>
            </a:r>
            <a:r>
              <a:rPr sz="2400" dirty="0" err="1">
                <a:solidFill>
                  <a:schemeClr val="tx2"/>
                </a:solidFill>
              </a:rPr>
              <a:t>专项洞察</a:t>
            </a:r>
            <a:endParaRPr sz="2400" dirty="0">
              <a:solidFill>
                <a:schemeClr val="tx2"/>
              </a:solidFill>
            </a:endParaRPr>
          </a:p>
          <a:p>
            <a:pPr marL="0" indent="0" algn="ctr">
              <a:buNone/>
              <a:defRPr sz="1800"/>
            </a:pPr>
            <a:r>
              <a:rPr sz="2400" dirty="0">
                <a:solidFill>
                  <a:schemeClr val="tx2"/>
                </a:solidFill>
              </a:rPr>
              <a:t>5. </a:t>
            </a:r>
            <a:r>
              <a:rPr sz="2400" dirty="0" err="1">
                <a:solidFill>
                  <a:schemeClr val="tx2"/>
                </a:solidFill>
              </a:rPr>
              <a:t>结论策略</a:t>
            </a:r>
            <a:endParaRPr sz="2400" dirty="0">
              <a:solidFill>
                <a:schemeClr val="tx2"/>
              </a:solidFill>
            </a:endParaRPr>
          </a:p>
          <a:p>
            <a:pPr marL="0" indent="0" algn="ctr">
              <a:buNone/>
              <a:defRPr sz="1800"/>
            </a:pPr>
            <a:r>
              <a:rPr sz="2400" dirty="0">
                <a:solidFill>
                  <a:schemeClr val="tx2"/>
                </a:solidFill>
              </a:rPr>
              <a:t>6. </a:t>
            </a:r>
            <a:r>
              <a:rPr sz="2400" dirty="0" err="1">
                <a:solidFill>
                  <a:schemeClr val="tx2"/>
                </a:solidFill>
              </a:rPr>
              <a:t>结束页</a:t>
            </a:r>
            <a:endParaRPr sz="2400" dirty="0">
              <a:solidFill>
                <a:schemeClr val="tx2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1143000"/>
          </a:xfrm>
        </p:spPr>
        <p:txBody>
          <a:bodyPr/>
          <a:lstStyle/>
          <a:p>
            <a:r>
              <a:rPr dirty="0" err="1"/>
              <a:t>核心经营指标总览</a:t>
            </a:r>
            <a:endParaRPr dirty="0"/>
          </a:p>
        </p:txBody>
      </p:sp>
      <p:sp>
        <p:nvSpPr>
          <p:cNvPr id="4" name="KPI:cards"/>
          <p:cNvSpPr txBox="1"/>
          <p:nvPr/>
        </p:nvSpPr>
        <p:spPr>
          <a:xfrm>
            <a:off x="731520" y="160020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1200"/>
              </a:spcAft>
              <a:defRPr sz="2400">
                <a:solidFill>
                  <a:srgbClr val="2C3E50"/>
                </a:solidFill>
              </a:defRPr>
            </a:pPr>
            <a:r>
              <a:rPr dirty="0"/>
              <a:t>[</a:t>
            </a:r>
            <a:r>
              <a:rPr dirty="0" err="1"/>
              <a:t>KPI:cards</a:t>
            </a:r>
            <a:r>
              <a:rPr dirty="0"/>
              <a:t>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237671"/>
            <a:ext cx="8608012" cy="3820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1143000"/>
          </a:xfrm>
        </p:spPr>
        <p:txBody>
          <a:bodyPr/>
          <a:lstStyle/>
          <a:p>
            <a:r>
              <a:rPr dirty="0" err="1"/>
              <a:t>销售员业绩表现分析</a:t>
            </a:r>
            <a:endParaRPr dirty="0"/>
          </a:p>
        </p:txBody>
      </p:sp>
      <p:sp>
        <p:nvSpPr>
          <p:cNvPr id="4" name="CHART:sales_by_person"/>
          <p:cNvSpPr/>
          <p:nvPr/>
        </p:nvSpPr>
        <p:spPr>
          <a:xfrm>
            <a:off x="457200" y="1371600"/>
            <a:ext cx="7315200" cy="4114800"/>
          </a:xfrm>
          <a:prstGeom prst="rect">
            <a:avLst/>
          </a:prstGeom>
          <a:solidFill>
            <a:srgbClr val="ECF0F1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dirty="0"/>
              <a:t>[</a:t>
            </a:r>
            <a:r>
              <a:rPr dirty="0" err="1"/>
              <a:t>CHART:sales_by_person</a:t>
            </a:r>
            <a:r>
              <a:rPr dirty="0"/>
              <a:t>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1371600"/>
            <a:ext cx="2907142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dirty="0"/>
              <a:t>{{</a:t>
            </a:r>
            <a:r>
              <a:rPr dirty="0" err="1"/>
              <a:t>INSIGHT:</a:t>
            </a:r>
            <a:r>
              <a:rPr lang="en-US" altLang="zh-CN" dirty="0" err="1"/>
              <a:t>sales_by_person</a:t>
            </a:r>
            <a:r>
              <a:rPr dirty="0"/>
              <a:t>}}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45920" y="278982"/>
            <a:ext cx="8229600" cy="1143000"/>
          </a:xfrm>
        </p:spPr>
        <p:txBody>
          <a:bodyPr/>
          <a:lstStyle/>
          <a:p>
            <a:r>
              <a:rPr dirty="0" err="1"/>
              <a:t>产品销售结构与占比分析</a:t>
            </a:r>
            <a:endParaRPr dirty="0"/>
          </a:p>
        </p:txBody>
      </p:sp>
      <p:sp>
        <p:nvSpPr>
          <p:cNvPr id="4" name="CHART:product_pie"/>
          <p:cNvSpPr/>
          <p:nvPr/>
        </p:nvSpPr>
        <p:spPr>
          <a:xfrm>
            <a:off x="457200" y="1371600"/>
            <a:ext cx="5029200" cy="5029200"/>
          </a:xfrm>
          <a:prstGeom prst="rect">
            <a:avLst/>
          </a:prstGeom>
          <a:solidFill>
            <a:srgbClr val="ECF0F1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dirty="0"/>
              <a:t>[</a:t>
            </a:r>
            <a:r>
              <a:rPr dirty="0" err="1"/>
              <a:t>CHART:product_pie</a:t>
            </a:r>
            <a:r>
              <a:rPr dirty="0"/>
              <a:t>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720" y="1371600"/>
            <a:ext cx="243727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dirty="0"/>
              <a:t>{{</a:t>
            </a:r>
            <a:r>
              <a:rPr dirty="0" err="1"/>
              <a:t>INSIGHT:</a:t>
            </a:r>
            <a:r>
              <a:rPr lang="en-US" dirty="0" err="1"/>
              <a:t>product_pie</a:t>
            </a:r>
            <a:r>
              <a:rPr dirty="0"/>
              <a:t>}}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250196"/>
            <a:ext cx="8229600" cy="1143000"/>
          </a:xfrm>
        </p:spPr>
        <p:txBody>
          <a:bodyPr/>
          <a:lstStyle/>
          <a:p>
            <a:r>
              <a:rPr dirty="0" err="1"/>
              <a:t>福建各城市销售业绩排名</a:t>
            </a:r>
            <a:endParaRPr dirty="0"/>
          </a:p>
        </p:txBody>
      </p:sp>
      <p:sp>
        <p:nvSpPr>
          <p:cNvPr id="4" name="CHART:city_ranking"/>
          <p:cNvSpPr/>
          <p:nvPr/>
        </p:nvSpPr>
        <p:spPr>
          <a:xfrm>
            <a:off x="457200" y="1371600"/>
            <a:ext cx="7315200" cy="4114800"/>
          </a:xfrm>
          <a:prstGeom prst="rect">
            <a:avLst/>
          </a:prstGeom>
          <a:solidFill>
            <a:srgbClr val="ECF0F1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dirty="0"/>
              <a:t>[</a:t>
            </a:r>
            <a:r>
              <a:rPr dirty="0" err="1"/>
              <a:t>CHART:city_ranking</a:t>
            </a:r>
            <a:r>
              <a:rPr dirty="0"/>
              <a:t>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1371600"/>
            <a:ext cx="2436244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dirty="0"/>
              <a:t>{{</a:t>
            </a:r>
            <a:r>
              <a:rPr dirty="0" err="1"/>
              <a:t>INSIGHT:</a:t>
            </a:r>
            <a:r>
              <a:rPr lang="en-US" dirty="0" err="1"/>
              <a:t>city_ranking</a:t>
            </a:r>
            <a:r>
              <a:rPr dirty="0"/>
              <a:t>}}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296234"/>
            <a:ext cx="8229600" cy="1143000"/>
          </a:xfrm>
        </p:spPr>
        <p:txBody>
          <a:bodyPr/>
          <a:lstStyle/>
          <a:p>
            <a:r>
              <a:rPr dirty="0" err="1"/>
              <a:t>新老客销售贡献对比分析</a:t>
            </a:r>
            <a:endParaRPr dirty="0"/>
          </a:p>
        </p:txBody>
      </p:sp>
      <p:sp>
        <p:nvSpPr>
          <p:cNvPr id="4" name="CHART:customer_comparison"/>
          <p:cNvSpPr/>
          <p:nvPr/>
        </p:nvSpPr>
        <p:spPr>
          <a:xfrm>
            <a:off x="457200" y="1371600"/>
            <a:ext cx="7315200" cy="4114800"/>
          </a:xfrm>
          <a:prstGeom prst="rect">
            <a:avLst/>
          </a:prstGeom>
          <a:solidFill>
            <a:srgbClr val="ECF0F1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dirty="0"/>
              <a:t>[</a:t>
            </a:r>
            <a:r>
              <a:rPr dirty="0" err="1"/>
              <a:t>CHART:customer_comparison</a:t>
            </a:r>
            <a:r>
              <a:rPr dirty="0"/>
              <a:t>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1371600"/>
            <a:ext cx="3392852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dirty="0"/>
              <a:t>{{</a:t>
            </a:r>
            <a:r>
              <a:rPr dirty="0" err="1"/>
              <a:t>INSIGHT:</a:t>
            </a:r>
            <a:r>
              <a:rPr lang="en-US" dirty="0" err="1"/>
              <a:t>customer_comparison</a:t>
            </a:r>
            <a:r>
              <a:rPr dirty="0"/>
              <a:t>}}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457200" y="5212080"/>
            <a:ext cx="95445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dirty="0"/>
              <a:t>{{</a:t>
            </a:r>
            <a:r>
              <a:rPr dirty="0" err="1"/>
              <a:t>INSIGHT:</a:t>
            </a:r>
            <a:r>
              <a:rPr lang="en-US" dirty="0" err="1"/>
              <a:t>monthly_trend</a:t>
            </a:r>
            <a:r>
              <a:rPr dirty="0"/>
              <a:t>}}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047" y="296234"/>
            <a:ext cx="8229600" cy="1143000"/>
          </a:xfrm>
        </p:spPr>
        <p:txBody>
          <a:bodyPr/>
          <a:lstStyle/>
          <a:p>
            <a:r>
              <a:rPr dirty="0"/>
              <a:t>2022 </a:t>
            </a:r>
            <a:r>
              <a:rPr dirty="0" err="1"/>
              <a:t>年上半年销售趋势分析</a:t>
            </a:r>
            <a:endParaRPr dirty="0"/>
          </a:p>
        </p:txBody>
      </p:sp>
      <p:sp>
        <p:nvSpPr>
          <p:cNvPr id="4" name="CHART:monthly_trend"/>
          <p:cNvSpPr/>
          <p:nvPr/>
        </p:nvSpPr>
        <p:spPr>
          <a:xfrm>
            <a:off x="457200" y="1371600"/>
            <a:ext cx="7973683" cy="3657600"/>
          </a:xfrm>
          <a:prstGeom prst="rect">
            <a:avLst/>
          </a:prstGeom>
          <a:solidFill>
            <a:srgbClr val="ECF0F1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dirty="0"/>
              <a:t>[</a:t>
            </a:r>
            <a:r>
              <a:rPr dirty="0" err="1"/>
              <a:t>CHART:monthly_trend</a:t>
            </a:r>
            <a:r>
              <a:rPr dirty="0"/>
              <a:t>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047" y="274638"/>
            <a:ext cx="8229600" cy="1143000"/>
          </a:xfrm>
        </p:spPr>
        <p:txBody>
          <a:bodyPr/>
          <a:lstStyle/>
          <a:p>
            <a:r>
              <a:rPr dirty="0" err="1"/>
              <a:t>销售员</a:t>
            </a:r>
            <a:r>
              <a:rPr dirty="0"/>
              <a:t> - </a:t>
            </a:r>
            <a:r>
              <a:rPr dirty="0" err="1"/>
              <a:t>产品销售能力矩阵分析</a:t>
            </a:r>
            <a:endParaRPr dirty="0"/>
          </a:p>
        </p:txBody>
      </p:sp>
      <p:sp>
        <p:nvSpPr>
          <p:cNvPr id="4" name="CHART:heatmap"/>
          <p:cNvSpPr/>
          <p:nvPr/>
        </p:nvSpPr>
        <p:spPr>
          <a:xfrm>
            <a:off x="457201" y="1371600"/>
            <a:ext cx="7197306" cy="3657600"/>
          </a:xfrm>
          <a:prstGeom prst="rect">
            <a:avLst/>
          </a:prstGeom>
          <a:solidFill>
            <a:srgbClr val="ECF0F1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dirty="0"/>
              <a:t>[</a:t>
            </a:r>
            <a:r>
              <a:rPr dirty="0" err="1"/>
              <a:t>CHART:heatmap</a:t>
            </a:r>
            <a:r>
              <a:rPr dirty="0"/>
              <a:t>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212080"/>
            <a:ext cx="11277295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dirty="0"/>
              <a:t>{{</a:t>
            </a:r>
            <a:r>
              <a:rPr dirty="0" err="1"/>
              <a:t>INSIGHT:heatmap</a:t>
            </a:r>
            <a:r>
              <a:rPr dirty="0"/>
              <a:t>}}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047" y="332148"/>
            <a:ext cx="8229600" cy="1143000"/>
          </a:xfrm>
        </p:spPr>
        <p:txBody>
          <a:bodyPr/>
          <a:lstStyle/>
          <a:p>
            <a:r>
              <a:rPr dirty="0" err="1"/>
              <a:t>异常订单专项排查与分析</a:t>
            </a:r>
            <a:endParaRPr dirty="0"/>
          </a:p>
        </p:txBody>
      </p:sp>
      <p:sp>
        <p:nvSpPr>
          <p:cNvPr id="4" name="TABLE:abnormal_orders"/>
          <p:cNvSpPr txBox="1"/>
          <p:nvPr/>
        </p:nvSpPr>
        <p:spPr>
          <a:xfrm>
            <a:off x="457200" y="1371600"/>
            <a:ext cx="112772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dirty="0"/>
              <a:t>[</a:t>
            </a:r>
            <a:r>
              <a:rPr dirty="0" err="1"/>
              <a:t>TABLE:abnormal_orders</a:t>
            </a:r>
            <a:r>
              <a:rPr dirty="0"/>
              <a:t>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57200" y="1371600"/>
            <a:ext cx="11277295" cy="4025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200"/>
              </a:spcAft>
            </a:pPr>
            <a:r>
              <a:rPr dirty="0"/>
              <a:t>{{</a:t>
            </a:r>
            <a:r>
              <a:rPr dirty="0" err="1"/>
              <a:t>INSIGHT:conclusion</a:t>
            </a:r>
            <a:r>
              <a:rPr dirty="0"/>
              <a:t>}}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047" y="319240"/>
            <a:ext cx="8229600" cy="1143000"/>
          </a:xfrm>
        </p:spPr>
        <p:txBody>
          <a:bodyPr/>
          <a:lstStyle/>
          <a:p>
            <a:r>
              <a:rPr dirty="0" err="1"/>
              <a:t>全量分析核心洞察结论</a:t>
            </a:r>
            <a:endParaRPr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57200" y="1371600"/>
            <a:ext cx="11277295" cy="4025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200"/>
              </a:spcAft>
            </a:pPr>
            <a:r>
              <a:rPr dirty="0"/>
              <a:t>{{</a:t>
            </a:r>
            <a:r>
              <a:rPr dirty="0" err="1"/>
              <a:t>INSIGHT:strategy</a:t>
            </a:r>
            <a:r>
              <a:rPr dirty="0"/>
              <a:t>}}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047" y="284733"/>
            <a:ext cx="8229600" cy="1143000"/>
          </a:xfrm>
        </p:spPr>
        <p:txBody>
          <a:bodyPr/>
          <a:lstStyle/>
          <a:p>
            <a:r>
              <a:rPr dirty="0" err="1"/>
              <a:t>可落地销售优化策略建议</a:t>
            </a:r>
            <a:endParaRPr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09647" y="1973053"/>
            <a:ext cx="7772400" cy="1470025"/>
          </a:xfrm>
        </p:spPr>
        <p:txBody>
          <a:bodyPr/>
          <a:lstStyle/>
          <a:p>
            <a:r>
              <a:rPr dirty="0" err="1"/>
              <a:t>感谢观看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457200" y="594360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2C3E50"/>
                </a:solidFill>
              </a:defRPr>
            </a:pPr>
            <a:r>
              <a:rPr dirty="0"/>
              <a:t>[</a:t>
            </a:r>
            <a:r>
              <a:rPr dirty="0" err="1"/>
              <a:t>TEXT:report_date</a:t>
            </a:r>
            <a:r>
              <a:rPr dirty="0"/>
              <a:t>]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6EDA7A49-F1AA-5E02-8E84-186665F143DC}"/>
              </a:ext>
            </a:extLst>
          </p:cNvPr>
          <p:cNvSpPr txBox="1"/>
          <p:nvPr/>
        </p:nvSpPr>
        <p:spPr>
          <a:xfrm>
            <a:off x="2068436" y="3058510"/>
            <a:ext cx="29891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E425793-6A16-ECF1-4B70-F2855E9017EA}"/>
              </a:ext>
            </a:extLst>
          </p:cNvPr>
          <p:cNvSpPr/>
          <p:nvPr/>
        </p:nvSpPr>
        <p:spPr>
          <a:xfrm>
            <a:off x="5240458" y="1513490"/>
            <a:ext cx="6180083" cy="4181015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[</a:t>
            </a:r>
            <a:r>
              <a:rPr lang="en-US" altLang="zh-CN" dirty="0" err="1"/>
              <a:t>CHART:customer_city</a:t>
            </a:r>
            <a:r>
              <a:rPr lang="en-US" altLang="zh-CN" dirty="0"/>
              <a:t>]</a:t>
            </a:r>
            <a:endParaRPr lang="zh-CN" altLang="en-US" dirty="0"/>
          </a:p>
          <a:p>
            <a:pPr algn="ctr"/>
            <a:endParaRPr lang="zh-CN" altLang="en-US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29A9A806-473D-37B7-BE4F-455A7EF285BA}"/>
              </a:ext>
            </a:extLst>
          </p:cNvPr>
          <p:cNvSpPr txBox="1"/>
          <p:nvPr/>
        </p:nvSpPr>
        <p:spPr>
          <a:xfrm>
            <a:off x="1705855" y="367296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zh-CN" altLang="en-US" dirty="0"/>
          </a:p>
        </p:txBody>
      </p:sp>
      <p:sp>
        <p:nvSpPr>
          <p:cNvPr id="8" name="TextBox 4">
            <a:extLst>
              <a:ext uri="{FF2B5EF4-FFF2-40B4-BE49-F238E27FC236}">
                <a16:creationId xmlns:a16="http://schemas.microsoft.com/office/drawing/2014/main" id="{38BA3899-CA74-E6FD-4376-3E353B599B76}"/>
              </a:ext>
            </a:extLst>
          </p:cNvPr>
          <p:cNvSpPr txBox="1"/>
          <p:nvPr/>
        </p:nvSpPr>
        <p:spPr>
          <a:xfrm>
            <a:off x="1039017" y="1849030"/>
            <a:ext cx="2623732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altLang="zh-CN" dirty="0"/>
              <a:t>{{</a:t>
            </a:r>
            <a:r>
              <a:rPr lang="en-US" altLang="zh-CN" dirty="0" err="1"/>
              <a:t>INSIGHT:customer_city</a:t>
            </a:r>
            <a:r>
              <a:rPr lang="en-US" altLang="zh-CN" dirty="0"/>
              <a:t>}}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828392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EF56E4-8158-2D57-07EC-3B9E815EBC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31719BC4-BCF6-5626-55E1-A585248D91C0}"/>
              </a:ext>
            </a:extLst>
          </p:cNvPr>
          <p:cNvSpPr/>
          <p:nvPr/>
        </p:nvSpPr>
        <p:spPr>
          <a:xfrm>
            <a:off x="457200" y="1202267"/>
            <a:ext cx="6620934" cy="42926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[</a:t>
            </a:r>
            <a:r>
              <a:rPr lang="en-US" altLang="zh-CN" dirty="0" err="1"/>
              <a:t>CHART:age_scatter</a:t>
            </a:r>
            <a:r>
              <a:rPr lang="en-US" altLang="zh-CN" dirty="0"/>
              <a:t>]</a:t>
            </a:r>
            <a:endParaRPr lang="zh-CN" altLang="en-US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D9D3181-4D8D-3F3B-C120-06CD2958191F}"/>
              </a:ext>
            </a:extLst>
          </p:cNvPr>
          <p:cNvSpPr txBox="1"/>
          <p:nvPr/>
        </p:nvSpPr>
        <p:spPr>
          <a:xfrm>
            <a:off x="7780866" y="1386933"/>
            <a:ext cx="32088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{{</a:t>
            </a:r>
            <a:r>
              <a:rPr lang="en-US" altLang="zh-CN" dirty="0" err="1"/>
              <a:t>INSIGHT:age_scatter</a:t>
            </a:r>
            <a:r>
              <a:rPr lang="en-US" altLang="zh-CN" dirty="0"/>
              <a:t>}}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0063307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275</TotalTime>
  <Words>207</Words>
  <Application>Microsoft Office PowerPoint</Application>
  <PresentationFormat>宽屏</PresentationFormat>
  <Paragraphs>45</Paragraphs>
  <Slides>15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PowerPoint 演示文稿</vt:lpstr>
      <vt:lpstr>报告目录</vt:lpstr>
      <vt:lpstr>核心经营指标总览</vt:lpstr>
      <vt:lpstr>销售员业绩表现分析</vt:lpstr>
      <vt:lpstr>产品销售结构与占比分析</vt:lpstr>
      <vt:lpstr>福建各城市销售业绩排名</vt:lpstr>
      <vt:lpstr>新老客销售贡献对比分析</vt:lpstr>
      <vt:lpstr>2022 年上半年销售趋势分析</vt:lpstr>
      <vt:lpstr>销售员 - 产品销售能力矩阵分析</vt:lpstr>
      <vt:lpstr>异常订单专项排查与分析</vt:lpstr>
      <vt:lpstr>全量分析核心洞察结论</vt:lpstr>
      <vt:lpstr>可落地销售优化策略建议</vt:lpstr>
      <vt:lpstr>感谢观看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嘉豪 李</cp:lastModifiedBy>
  <cp:revision>25</cp:revision>
  <dcterms:created xsi:type="dcterms:W3CDTF">2013-01-27T09:14:16Z</dcterms:created>
  <dcterms:modified xsi:type="dcterms:W3CDTF">2026-04-08T21:48:07Z</dcterms:modified>
  <cp:category/>
</cp:coreProperties>
</file>