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3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rPr dirty="0"/>
              <a:t>[</a:t>
            </a:r>
            <a:r>
              <a:rPr dirty="0" err="1"/>
              <a:t>TEXT:report_title</a:t>
            </a:r>
            <a:r>
              <a:rPr dirty="0"/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rPr dirty="0"/>
              <a:t>[</a:t>
            </a:r>
            <a:r>
              <a:rPr dirty="0" err="1"/>
              <a:t>TEXT:report_subtitle</a:t>
            </a:r>
            <a:r>
              <a:rPr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97488" y="5943600"/>
            <a:ext cx="15967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lang="en-US" dirty="0"/>
              <a:t>[</a:t>
            </a:r>
            <a:r>
              <a:rPr lang="en-US" dirty="0" err="1"/>
              <a:t>DATE:report_date</a:t>
            </a:r>
            <a:r>
              <a:rPr lang="en-US" dirty="0"/>
              <a:t>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20646"/>
            <a:ext cx="8229600" cy="1143000"/>
          </a:xfrm>
        </p:spPr>
        <p:txBody>
          <a:bodyPr/>
          <a:lstStyle/>
          <a:p>
            <a:r>
              <a:rPr dirty="0" err="1"/>
              <a:t>报告目录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1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sz="2400" dirty="0"/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1. </a:t>
            </a:r>
            <a:r>
              <a:rPr sz="2400" dirty="0" err="1">
                <a:solidFill>
                  <a:schemeClr val="tx2"/>
                </a:solidFill>
              </a:rPr>
              <a:t>分析背景</a:t>
            </a:r>
            <a:endParaRPr sz="2400" dirty="0">
              <a:solidFill>
                <a:schemeClr val="tx2"/>
              </a:solidFill>
            </a:endParaRPr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2. </a:t>
            </a:r>
            <a:r>
              <a:rPr sz="2400" dirty="0" err="1">
                <a:solidFill>
                  <a:schemeClr val="tx2"/>
                </a:solidFill>
              </a:rPr>
              <a:t>核心指标</a:t>
            </a:r>
            <a:endParaRPr sz="2400" dirty="0">
              <a:solidFill>
                <a:schemeClr val="tx2"/>
              </a:solidFill>
            </a:endParaRPr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3. </a:t>
            </a:r>
            <a:r>
              <a:rPr sz="2400" dirty="0" err="1">
                <a:solidFill>
                  <a:schemeClr val="tx2"/>
                </a:solidFill>
              </a:rPr>
              <a:t>多维度分析</a:t>
            </a:r>
            <a:endParaRPr sz="2400" dirty="0">
              <a:solidFill>
                <a:schemeClr val="tx2"/>
              </a:solidFill>
            </a:endParaRPr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4. </a:t>
            </a:r>
            <a:r>
              <a:rPr sz="2400" dirty="0" err="1">
                <a:solidFill>
                  <a:schemeClr val="tx2"/>
                </a:solidFill>
              </a:rPr>
              <a:t>专项洞察</a:t>
            </a:r>
            <a:endParaRPr sz="2400" dirty="0">
              <a:solidFill>
                <a:schemeClr val="tx2"/>
              </a:solidFill>
            </a:endParaRPr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5. </a:t>
            </a:r>
            <a:r>
              <a:rPr sz="2400" dirty="0" err="1">
                <a:solidFill>
                  <a:schemeClr val="tx2"/>
                </a:solidFill>
              </a:rPr>
              <a:t>结论策略</a:t>
            </a:r>
            <a:endParaRPr sz="2400" dirty="0">
              <a:solidFill>
                <a:schemeClr val="tx2"/>
              </a:solidFill>
            </a:endParaRPr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6. </a:t>
            </a:r>
            <a:r>
              <a:rPr sz="2400" dirty="0" err="1">
                <a:solidFill>
                  <a:schemeClr val="tx2"/>
                </a:solidFill>
              </a:rPr>
              <a:t>结束页</a:t>
            </a:r>
            <a:endParaRPr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 err="1"/>
              <a:t>核心经营指标总览</a:t>
            </a:r>
            <a:endParaRPr dirty="0"/>
          </a:p>
        </p:txBody>
      </p:sp>
      <p:sp>
        <p:nvSpPr>
          <p:cNvPr id="4" name="KPI:cards"/>
          <p:cNvSpPr txBox="1"/>
          <p:nvPr/>
        </p:nvSpPr>
        <p:spPr>
          <a:xfrm>
            <a:off x="731520" y="1600200"/>
            <a:ext cx="457200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[</a:t>
            </a:r>
            <a:r>
              <a:rPr lang="en-US" altLang="zh-CN" sz="2400" dirty="0" err="1"/>
              <a:t>TABLE</a:t>
            </a:r>
            <a:r>
              <a:rPr dirty="0" err="1"/>
              <a:t>:</a:t>
            </a:r>
            <a:r>
              <a:rPr lang="en-US" altLang="zh-CN" dirty="0" err="1"/>
              <a:t>core_api</a:t>
            </a:r>
            <a:r>
              <a:rPr dirty="0"/>
              <a:t>]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85B51B-EE5D-A1BB-3638-241B28194F0A}"/>
              </a:ext>
            </a:extLst>
          </p:cNvPr>
          <p:cNvSpPr txBox="1"/>
          <p:nvPr/>
        </p:nvSpPr>
        <p:spPr>
          <a:xfrm>
            <a:off x="657560" y="5003348"/>
            <a:ext cx="264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{{</a:t>
            </a:r>
            <a:r>
              <a:rPr lang="en-US" altLang="zh-CN" dirty="0" err="1"/>
              <a:t>INSIGHT:core_kpi</a:t>
            </a:r>
            <a:r>
              <a:rPr lang="en-US" altLang="zh-CN" dirty="0"/>
              <a:t>}}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10B29E-29B3-4E4A-6538-4D9C134F3D74}"/>
              </a:ext>
            </a:extLst>
          </p:cNvPr>
          <p:cNvSpPr txBox="1"/>
          <p:nvPr/>
        </p:nvSpPr>
        <p:spPr>
          <a:xfrm>
            <a:off x="9041632" y="4961478"/>
            <a:ext cx="1544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[</a:t>
            </a:r>
            <a:r>
              <a:rPr lang="en-US" altLang="zh-CN" dirty="0" err="1"/>
              <a:t>LINK:website</a:t>
            </a:r>
            <a:r>
              <a:rPr lang="en-US" altLang="zh-CN" dirty="0"/>
              <a:t>]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20EBFF-1D23-DB4B-2510-6867372F7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825911"/>
              </p:ext>
            </p:extLst>
          </p:nvPr>
        </p:nvGraphicFramePr>
        <p:xfrm>
          <a:off x="9041632" y="1711856"/>
          <a:ext cx="2751667" cy="365760"/>
        </p:xfrm>
        <a:graphic>
          <a:graphicData uri="http://schemas.openxmlformats.org/drawingml/2006/table">
            <a:tbl>
              <a:tblPr/>
              <a:tblGrid>
                <a:gridCol w="2751667">
                  <a:extLst>
                    <a:ext uri="{9D8B030D-6E8A-4147-A177-3AD203B41FA5}">
                      <a16:colId xmlns:a16="http://schemas.microsoft.com/office/drawing/2014/main" val="2762140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[</a:t>
                      </a:r>
                      <a:r>
                        <a:rPr lang="en-US" dirty="0" err="1"/>
                        <a:t>IMAGE:redhat</a:t>
                      </a:r>
                      <a:r>
                        <a:rPr lang="en-US" dirty="0"/>
                        <a:t>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7060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核心 </a:t>
            </a:r>
            <a:r>
              <a:rPr lang="en-US" altLang="zh-CN" dirty="0"/>
              <a:t>KPI </a:t>
            </a:r>
            <a:r>
              <a:rPr lang="zh-CN" altLang="en-US" dirty="0"/>
              <a:t>指标概览</a:t>
            </a:r>
            <a:endParaRPr dirty="0"/>
          </a:p>
        </p:txBody>
      </p:sp>
      <p:sp>
        <p:nvSpPr>
          <p:cNvPr id="4" name="CHART:sales_by_person"/>
          <p:cNvSpPr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</a:t>
            </a:r>
            <a:r>
              <a:rPr lang="en-US" dirty="0" err="1"/>
              <a:t>CHART:core_kpi_summary</a:t>
            </a:r>
            <a:r>
              <a:rPr lang="en-US" dirty="0"/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0896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{{</a:t>
            </a:r>
            <a:r>
              <a:rPr lang="en-US" dirty="0" err="1"/>
              <a:t>INSIGHT:core_kpi_summary</a:t>
            </a:r>
            <a:r>
              <a:rPr lang="en-US" dirty="0"/>
              <a:t>}}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278982"/>
            <a:ext cx="8229600" cy="1143000"/>
          </a:xfrm>
        </p:spPr>
        <p:txBody>
          <a:bodyPr/>
          <a:lstStyle/>
          <a:p>
            <a:r>
              <a:rPr lang="zh-CN" altLang="en-US" dirty="0"/>
              <a:t>销售员业绩排名分析</a:t>
            </a:r>
            <a:endParaRPr dirty="0"/>
          </a:p>
        </p:txBody>
      </p:sp>
      <p:sp>
        <p:nvSpPr>
          <p:cNvPr id="4" name="CHART:product_pie"/>
          <p:cNvSpPr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</a:t>
            </a:r>
            <a:r>
              <a:rPr lang="en-US" dirty="0" err="1"/>
              <a:t>CHART:salesperson_ranking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760720" y="1371600"/>
            <a:ext cx="32097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{{</a:t>
            </a:r>
            <a:r>
              <a:rPr lang="en-US" dirty="0" err="1"/>
              <a:t>INSIGHT:salesperson_ranking</a:t>
            </a:r>
            <a:r>
              <a:rPr lang="en-US" dirty="0"/>
              <a:t>}}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0196"/>
            <a:ext cx="8229600" cy="1143000"/>
          </a:xfrm>
        </p:spPr>
        <p:txBody>
          <a:bodyPr/>
          <a:lstStyle/>
          <a:p>
            <a:r>
              <a:rPr lang="zh-CN" altLang="en-US" dirty="0"/>
              <a:t>城市销售占比分布</a:t>
            </a:r>
            <a:endParaRPr dirty="0"/>
          </a:p>
        </p:txBody>
      </p:sp>
      <p:sp>
        <p:nvSpPr>
          <p:cNvPr id="4" name="CHART:city_ranking"/>
          <p:cNvSpPr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</a:t>
            </a:r>
            <a:r>
              <a:rPr lang="en-US" dirty="0" err="1"/>
              <a:t>CHART:city_sales_pie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26044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{{</a:t>
            </a:r>
            <a:r>
              <a:rPr lang="en-US" dirty="0" err="1"/>
              <a:t>INSIGHT:city_sales_pie</a:t>
            </a:r>
            <a:r>
              <a:rPr lang="en-US" dirty="0"/>
              <a:t>}}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96234"/>
            <a:ext cx="8229600" cy="1143000"/>
          </a:xfrm>
        </p:spPr>
        <p:txBody>
          <a:bodyPr/>
          <a:lstStyle/>
          <a:p>
            <a:r>
              <a:rPr lang="zh-CN" altLang="en-US" dirty="0"/>
              <a:t>新老客销售与订单对比</a:t>
            </a:r>
            <a:endParaRPr dirty="0"/>
          </a:p>
        </p:txBody>
      </p:sp>
      <p:sp>
        <p:nvSpPr>
          <p:cNvPr id="4" name="CHART:customer_comparison"/>
          <p:cNvSpPr/>
          <p:nvPr/>
        </p:nvSpPr>
        <p:spPr>
          <a:xfrm>
            <a:off x="279400" y="1261632"/>
            <a:ext cx="7459133" cy="5300134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</a:t>
            </a:r>
            <a:r>
              <a:rPr lang="en-US" dirty="0" err="1"/>
              <a:t>CHART:customer_segment_comparison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43188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{{</a:t>
            </a:r>
            <a:r>
              <a:rPr lang="en-US" dirty="0" err="1"/>
              <a:t>INSIGHT:customer_segment_comparison</a:t>
            </a:r>
            <a:r>
              <a:rPr lang="en-US" dirty="0"/>
              <a:t>}}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5212080"/>
            <a:ext cx="954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{{</a:t>
            </a:r>
            <a:r>
              <a:rPr lang="en-US" dirty="0" err="1"/>
              <a:t>INSIGHT:monthly_sales_trend</a:t>
            </a:r>
            <a:r>
              <a:rPr lang="en-US" dirty="0"/>
              <a:t>}}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047" y="296234"/>
            <a:ext cx="8229600" cy="1143000"/>
          </a:xfrm>
        </p:spPr>
        <p:txBody>
          <a:bodyPr/>
          <a:lstStyle/>
          <a:p>
            <a:r>
              <a:rPr lang="zh-CN" altLang="en-US" dirty="0"/>
              <a:t>月度销售趋势分析</a:t>
            </a:r>
            <a:endParaRPr dirty="0"/>
          </a:p>
        </p:txBody>
      </p:sp>
      <p:sp>
        <p:nvSpPr>
          <p:cNvPr id="4" name="CHART:monthly_trend"/>
          <p:cNvSpPr/>
          <p:nvPr/>
        </p:nvSpPr>
        <p:spPr>
          <a:xfrm>
            <a:off x="457200" y="1371600"/>
            <a:ext cx="7973683" cy="36576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</a:t>
            </a:r>
            <a:r>
              <a:rPr lang="en-US" dirty="0" err="1"/>
              <a:t>CHART:monthly_sales_trend</a:t>
            </a:r>
            <a:r>
              <a:rPr lang="en-US" dirty="0"/>
              <a:t>]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047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自定义月度趋势</a:t>
            </a:r>
            <a:endParaRPr dirty="0"/>
          </a:p>
        </p:txBody>
      </p:sp>
      <p:sp>
        <p:nvSpPr>
          <p:cNvPr id="4" name="CHART:heatmap"/>
          <p:cNvSpPr/>
          <p:nvPr/>
        </p:nvSpPr>
        <p:spPr>
          <a:xfrm>
            <a:off x="457201" y="1371600"/>
            <a:ext cx="7197306" cy="36576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</a:t>
            </a:r>
            <a:r>
              <a:rPr lang="en-US" dirty="0" err="1"/>
              <a:t>CHART:custom_monthly_trend_dual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40292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{{</a:t>
            </a:r>
            <a:r>
              <a:rPr lang="en-US" dirty="0" err="1"/>
              <a:t>INSIGHT:custom_monthly_trend_dual</a:t>
            </a:r>
            <a:r>
              <a:rPr lang="en-US" dirty="0"/>
              <a:t>}}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371600"/>
            <a:ext cx="11277295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dirty="0"/>
              <a:t>{{</a:t>
            </a:r>
            <a:r>
              <a:rPr dirty="0" err="1"/>
              <a:t>INSIGHT:conclusion</a:t>
            </a:r>
            <a:r>
              <a:rPr dirty="0"/>
              <a:t>}}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047" y="319240"/>
            <a:ext cx="8229600" cy="1143000"/>
          </a:xfrm>
        </p:spPr>
        <p:txBody>
          <a:bodyPr/>
          <a:lstStyle/>
          <a:p>
            <a:r>
              <a:rPr dirty="0" err="1"/>
              <a:t>全量分析核心洞察结论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371600"/>
            <a:ext cx="11277295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dirty="0"/>
              <a:t>{{</a:t>
            </a:r>
            <a:r>
              <a:rPr dirty="0" err="1"/>
              <a:t>INSIGHT:strategy</a:t>
            </a:r>
            <a:r>
              <a:rPr dirty="0"/>
              <a:t>}}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047" y="284733"/>
            <a:ext cx="8229600" cy="1143000"/>
          </a:xfrm>
        </p:spPr>
        <p:txBody>
          <a:bodyPr/>
          <a:lstStyle/>
          <a:p>
            <a:r>
              <a:rPr dirty="0" err="1"/>
              <a:t>可落地销售优化策略建议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647" y="1973053"/>
            <a:ext cx="7772400" cy="1470025"/>
          </a:xfrm>
        </p:spPr>
        <p:txBody>
          <a:bodyPr/>
          <a:lstStyle/>
          <a:p>
            <a:r>
              <a:rPr dirty="0" err="1"/>
              <a:t>感谢观看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439444" y="5943600"/>
            <a:ext cx="3313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lang="en-US" altLang="zh-CN" sz="1400" dirty="0"/>
              <a:t>[</a:t>
            </a:r>
            <a:r>
              <a:rPr lang="en-US" altLang="zh-CN" sz="1400" dirty="0" err="1"/>
              <a:t>DATE:report_date</a:t>
            </a:r>
            <a:r>
              <a:rPr lang="en-US" altLang="zh-CN" sz="1400" dirty="0"/>
              <a:t>]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220</Words>
  <Application>Microsoft Office PowerPoint</Application>
  <PresentationFormat>宽屏</PresentationFormat>
  <Paragraphs>40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报告目录</vt:lpstr>
      <vt:lpstr>核心经营指标总览</vt:lpstr>
      <vt:lpstr>核心 KPI 指标概览</vt:lpstr>
      <vt:lpstr>销售员业绩排名分析</vt:lpstr>
      <vt:lpstr>城市销售占比分布</vt:lpstr>
      <vt:lpstr>新老客销售与订单对比</vt:lpstr>
      <vt:lpstr>月度销售趋势分析</vt:lpstr>
      <vt:lpstr>自定义月度趋势</vt:lpstr>
      <vt:lpstr>全量分析核心洞察结论</vt:lpstr>
      <vt:lpstr>可落地销售优化策略建议</vt:lpstr>
      <vt:lpstr>感谢观看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嘉豪 李</cp:lastModifiedBy>
  <cp:revision>45</cp:revision>
  <dcterms:created xsi:type="dcterms:W3CDTF">2013-01-27T09:14:16Z</dcterms:created>
  <dcterms:modified xsi:type="dcterms:W3CDTF">2026-04-11T20:58:50Z</dcterms:modified>
  <cp:category/>
</cp:coreProperties>
</file>